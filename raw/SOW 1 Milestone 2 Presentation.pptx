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Roboto"/>
      <p:regular r:id="rId32"/>
      <p:bold r:id="rId33"/>
      <p:italic r:id="rId34"/>
      <p:boldItalic r:id="rId35"/>
    </p:embeddedFont>
    <p:embeddedFont>
      <p:font typeface="Poppi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B6EAEC-40BE-42D4-865E-5E91C0DFF9E2}">
  <a:tblStyle styleId="{11B6EAEC-40BE-42D4-865E-5E91C0DFF9E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bold.fntdata"/><Relationship Id="rId10" Type="http://schemas.openxmlformats.org/officeDocument/2006/relationships/slide" Target="slides/slide3.xml"/><Relationship Id="rId32" Type="http://schemas.openxmlformats.org/officeDocument/2006/relationships/font" Target="fonts/Roboto-regular.fntdata"/><Relationship Id="rId13" Type="http://schemas.openxmlformats.org/officeDocument/2006/relationships/slide" Target="slides/slide6.xml"/><Relationship Id="rId35" Type="http://schemas.openxmlformats.org/officeDocument/2006/relationships/font" Target="fonts/Roboto-boldItalic.fntdata"/><Relationship Id="rId12" Type="http://schemas.openxmlformats.org/officeDocument/2006/relationships/slide" Target="slides/slide5.xml"/><Relationship Id="rId34" Type="http://schemas.openxmlformats.org/officeDocument/2006/relationships/font" Target="fonts/Roboto-italic.fntdata"/><Relationship Id="rId15" Type="http://schemas.openxmlformats.org/officeDocument/2006/relationships/slide" Target="slides/slide8.xml"/><Relationship Id="rId37" Type="http://schemas.openxmlformats.org/officeDocument/2006/relationships/font" Target="fonts/Poppins-bold.fntdata"/><Relationship Id="rId14" Type="http://schemas.openxmlformats.org/officeDocument/2006/relationships/slide" Target="slides/slide7.xml"/><Relationship Id="rId36" Type="http://schemas.openxmlformats.org/officeDocument/2006/relationships/font" Target="fonts/Poppins-regular.fntdata"/><Relationship Id="rId17" Type="http://schemas.openxmlformats.org/officeDocument/2006/relationships/slide" Target="slides/slide10.xml"/><Relationship Id="rId39" Type="http://schemas.openxmlformats.org/officeDocument/2006/relationships/font" Target="fonts/Poppins-boldItalic.fntdata"/><Relationship Id="rId16" Type="http://schemas.openxmlformats.org/officeDocument/2006/relationships/slide" Target="slides/slide9.xml"/><Relationship Id="rId38" Type="http://schemas.openxmlformats.org/officeDocument/2006/relationships/font" Target="fonts/Poppins-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7d54d04537_0_57:notes"/>
          <p:cNvSpPr/>
          <p:nvPr>
            <p:ph idx="2" type="sldImg"/>
          </p:nvPr>
        </p:nvSpPr>
        <p:spPr>
          <a:xfrm>
            <a:off x="381292"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7d54d0453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4d3ebb16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b4d3ebb16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4d3ebb16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4d3ebb16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7e9f553d2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7e9f553d2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4d3ebb16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4d3ebb16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4d3ebb16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4d3ebb16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4d3ebb16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4d3ebb16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642ffc9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642ffc9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642ffc97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642ffc97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7e9f553d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b7e9f553d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642ffc97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b642ffc97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7e9f553d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b7e9f553d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7e9f553d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b7e9f553d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7e9f553d2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b7e9f553d2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7e9f553d2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b7e9f553d2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7e9f553d2_0_0:notes"/>
          <p:cNvSpPr/>
          <p:nvPr>
            <p:ph idx="2" type="sldImg"/>
          </p:nvPr>
        </p:nvSpPr>
        <p:spPr>
          <a:xfrm>
            <a:off x="381292"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b7e9f553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7e9f553d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b7e9f553d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news, using our lumen architecture, we can process 3-min swaths in a second, puts you on track for onboard ATC</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4d3ebb16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4d3ebb16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4d3ebb164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b4d3ebb164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4d3ebb164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b4d3ebb164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4d3ebb164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b4d3ebb164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b4d3ebb164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b4d3ebb164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b4d3ebb164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b4d3ebb164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642ffc97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b642ffc97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3644275" y="2846000"/>
            <a:ext cx="5499600" cy="0"/>
          </a:xfrm>
          <a:prstGeom prst="straightConnector1">
            <a:avLst/>
          </a:prstGeom>
          <a:noFill/>
          <a:ln cap="flat" cmpd="sng" w="9525">
            <a:solidFill>
              <a:srgbClr val="CACBDA"/>
            </a:solidFill>
            <a:prstDash val="solid"/>
            <a:round/>
            <a:headEnd len="med" w="med" type="none"/>
            <a:tailEnd len="med" w="med" type="none"/>
          </a:ln>
        </p:spPr>
      </p:cxnSp>
      <p:pic>
        <p:nvPicPr>
          <p:cNvPr id="56" name="Google Shape;56;p14"/>
          <p:cNvPicPr preferRelativeResize="0"/>
          <p:nvPr/>
        </p:nvPicPr>
        <p:blipFill>
          <a:blip r:embed="rId2">
            <a:alphaModFix/>
          </a:blip>
          <a:stretch>
            <a:fillRect/>
          </a:stretch>
        </p:blipFill>
        <p:spPr>
          <a:xfrm>
            <a:off x="0" y="3771900"/>
            <a:ext cx="9144000" cy="1371584"/>
          </a:xfrm>
          <a:prstGeom prst="rect">
            <a:avLst/>
          </a:prstGeom>
          <a:noFill/>
          <a:ln>
            <a:noFill/>
          </a:ln>
        </p:spPr>
      </p:pic>
      <p:sp>
        <p:nvSpPr>
          <p:cNvPr id="57" name="Google Shape;57;p14"/>
          <p:cNvSpPr txBox="1"/>
          <p:nvPr>
            <p:ph type="title"/>
          </p:nvPr>
        </p:nvSpPr>
        <p:spPr>
          <a:xfrm>
            <a:off x="3541320" y="2093645"/>
            <a:ext cx="5280900" cy="827700"/>
          </a:xfrm>
          <a:prstGeom prst="rect">
            <a:avLst/>
          </a:prstGeom>
        </p:spPr>
        <p:txBody>
          <a:bodyPr anchorCtr="0" anchor="ctr" bIns="86450" lIns="86450" spcFirstLastPara="1" rIns="86450" wrap="square" tIns="86450">
            <a:noAutofit/>
          </a:bodyPr>
          <a:lstStyle>
            <a:lvl1pPr lvl="0">
              <a:spcBef>
                <a:spcPts val="0"/>
              </a:spcBef>
              <a:spcAft>
                <a:spcPts val="0"/>
              </a:spcAft>
              <a:buSzPts val="3600"/>
              <a:buNone/>
              <a:defRPr sz="3600"/>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p:txBody>
      </p:sp>
      <p:sp>
        <p:nvSpPr>
          <p:cNvPr id="58" name="Google Shape;58;p14"/>
          <p:cNvSpPr txBox="1"/>
          <p:nvPr>
            <p:ph idx="1" type="subTitle"/>
          </p:nvPr>
        </p:nvSpPr>
        <p:spPr>
          <a:xfrm rot="-5400000">
            <a:off x="-972475" y="2367500"/>
            <a:ext cx="2758200" cy="347400"/>
          </a:xfrm>
          <a:prstGeom prst="rect">
            <a:avLst/>
          </a:prstGeom>
        </p:spPr>
        <p:txBody>
          <a:bodyPr anchorCtr="0" anchor="ctr" bIns="86450" lIns="86450" spcFirstLastPara="1" rIns="86450" wrap="square" tIns="86450">
            <a:noAutofit/>
          </a:bodyPr>
          <a:lstStyle>
            <a:lvl1pPr lvl="0" algn="ctr">
              <a:lnSpc>
                <a:spcPct val="100000"/>
              </a:lnSpc>
              <a:spcBef>
                <a:spcPts val="0"/>
              </a:spcBef>
              <a:spcAft>
                <a:spcPts val="0"/>
              </a:spcAft>
              <a:buClr>
                <a:srgbClr val="CACBDA"/>
              </a:buClr>
              <a:buSzPts val="900"/>
              <a:buNone/>
              <a:defRPr sz="900">
                <a:solidFill>
                  <a:srgbClr val="CACBDA"/>
                </a:solidFill>
              </a:defRPr>
            </a:lvl1pPr>
            <a:lvl2pPr lvl="1">
              <a:spcBef>
                <a:spcPts val="0"/>
              </a:spcBef>
              <a:spcAft>
                <a:spcPts val="0"/>
              </a:spcAft>
              <a:buSzPts val="1400"/>
              <a:buNone/>
              <a:defRPr/>
            </a:lvl2pPr>
            <a:lvl3pPr lvl="2">
              <a:spcBef>
                <a:spcPts val="1500"/>
              </a:spcBef>
              <a:spcAft>
                <a:spcPts val="0"/>
              </a:spcAft>
              <a:buSzPts val="1400"/>
              <a:buNone/>
              <a:defRPr/>
            </a:lvl3pPr>
            <a:lvl4pPr lvl="3">
              <a:spcBef>
                <a:spcPts val="1500"/>
              </a:spcBef>
              <a:spcAft>
                <a:spcPts val="0"/>
              </a:spcAft>
              <a:buSzPts val="1400"/>
              <a:buNone/>
              <a:defRPr/>
            </a:lvl4pPr>
            <a:lvl5pPr lvl="4">
              <a:spcBef>
                <a:spcPts val="1500"/>
              </a:spcBef>
              <a:spcAft>
                <a:spcPts val="0"/>
              </a:spcAft>
              <a:buSzPts val="1400"/>
              <a:buNone/>
              <a:defRPr/>
            </a:lvl5pPr>
            <a:lvl6pPr lvl="5">
              <a:spcBef>
                <a:spcPts val="1500"/>
              </a:spcBef>
              <a:spcAft>
                <a:spcPts val="0"/>
              </a:spcAft>
              <a:buSzPts val="1400"/>
              <a:buNone/>
              <a:defRPr/>
            </a:lvl6pPr>
            <a:lvl7pPr lvl="6">
              <a:spcBef>
                <a:spcPts val="1500"/>
              </a:spcBef>
              <a:spcAft>
                <a:spcPts val="0"/>
              </a:spcAft>
              <a:buSzPts val="1400"/>
              <a:buNone/>
              <a:defRPr/>
            </a:lvl7pPr>
            <a:lvl8pPr lvl="7">
              <a:spcBef>
                <a:spcPts val="1500"/>
              </a:spcBef>
              <a:spcAft>
                <a:spcPts val="0"/>
              </a:spcAft>
              <a:buSzPts val="1400"/>
              <a:buNone/>
              <a:defRPr/>
            </a:lvl8pPr>
            <a:lvl9pPr lvl="8">
              <a:spcBef>
                <a:spcPts val="1500"/>
              </a:spcBef>
              <a:spcAft>
                <a:spcPts val="1500"/>
              </a:spcAft>
              <a:buSzPts val="1400"/>
              <a:buNone/>
              <a:defRPr/>
            </a:lvl9pPr>
          </a:lstStyle>
          <a:p/>
        </p:txBody>
      </p:sp>
      <p:pic>
        <p:nvPicPr>
          <p:cNvPr id="59" name="Google Shape;59;p14"/>
          <p:cNvPicPr preferRelativeResize="0"/>
          <p:nvPr/>
        </p:nvPicPr>
        <p:blipFill>
          <a:blip r:embed="rId3">
            <a:alphaModFix/>
          </a:blip>
          <a:stretch>
            <a:fillRect/>
          </a:stretch>
        </p:blipFill>
        <p:spPr>
          <a:xfrm>
            <a:off x="185350" y="128126"/>
            <a:ext cx="2270726" cy="728225"/>
          </a:xfrm>
          <a:prstGeom prst="rect">
            <a:avLst/>
          </a:prstGeom>
          <a:noFill/>
          <a:ln>
            <a:noFill/>
          </a:ln>
        </p:spPr>
      </p:pic>
      <p:sp>
        <p:nvSpPr>
          <p:cNvPr id="60" name="Google Shape;60;p14"/>
          <p:cNvSpPr txBox="1"/>
          <p:nvPr>
            <p:ph idx="2" type="subTitle"/>
          </p:nvPr>
        </p:nvSpPr>
        <p:spPr>
          <a:xfrm>
            <a:off x="3569879" y="1880470"/>
            <a:ext cx="4224600" cy="391200"/>
          </a:xfrm>
          <a:prstGeom prst="rect">
            <a:avLst/>
          </a:prstGeom>
        </p:spPr>
        <p:txBody>
          <a:bodyPr anchorCtr="0" anchor="t" bIns="86450" lIns="86450" spcFirstLastPara="1" rIns="86450" wrap="square" tIns="86450">
            <a:noAutofit/>
          </a:bodyPr>
          <a:lstStyle>
            <a:lvl1pPr lvl="0">
              <a:spcBef>
                <a:spcPts val="0"/>
              </a:spcBef>
              <a:spcAft>
                <a:spcPts val="0"/>
              </a:spcAft>
              <a:buClr>
                <a:srgbClr val="CACBDA"/>
              </a:buClr>
              <a:buSzPts val="1500"/>
              <a:buNone/>
              <a:defRPr b="1" sz="1500">
                <a:solidFill>
                  <a:srgbClr val="CACBDA"/>
                </a:solidFill>
              </a:defRPr>
            </a:lvl1pPr>
            <a:lvl2pPr lvl="1">
              <a:spcBef>
                <a:spcPts val="1500"/>
              </a:spcBef>
              <a:spcAft>
                <a:spcPts val="0"/>
              </a:spcAft>
              <a:buSzPts val="1500"/>
              <a:buNone/>
              <a:defRPr b="1" sz="1500"/>
            </a:lvl2pPr>
            <a:lvl3pPr lvl="2">
              <a:spcBef>
                <a:spcPts val="1500"/>
              </a:spcBef>
              <a:spcAft>
                <a:spcPts val="0"/>
              </a:spcAft>
              <a:buSzPts val="1500"/>
              <a:buNone/>
              <a:defRPr b="1" sz="1500"/>
            </a:lvl3pPr>
            <a:lvl4pPr lvl="3">
              <a:spcBef>
                <a:spcPts val="1500"/>
              </a:spcBef>
              <a:spcAft>
                <a:spcPts val="0"/>
              </a:spcAft>
              <a:buSzPts val="1500"/>
              <a:buNone/>
              <a:defRPr b="1" sz="1500"/>
            </a:lvl4pPr>
            <a:lvl5pPr lvl="4">
              <a:spcBef>
                <a:spcPts val="1500"/>
              </a:spcBef>
              <a:spcAft>
                <a:spcPts val="0"/>
              </a:spcAft>
              <a:buSzPts val="1500"/>
              <a:buNone/>
              <a:defRPr b="1" sz="1500"/>
            </a:lvl5pPr>
            <a:lvl6pPr lvl="5">
              <a:spcBef>
                <a:spcPts val="1500"/>
              </a:spcBef>
              <a:spcAft>
                <a:spcPts val="0"/>
              </a:spcAft>
              <a:buSzPts val="1500"/>
              <a:buNone/>
              <a:defRPr b="1" sz="1500"/>
            </a:lvl6pPr>
            <a:lvl7pPr lvl="6">
              <a:spcBef>
                <a:spcPts val="1500"/>
              </a:spcBef>
              <a:spcAft>
                <a:spcPts val="0"/>
              </a:spcAft>
              <a:buSzPts val="1500"/>
              <a:buNone/>
              <a:defRPr b="1" sz="1500"/>
            </a:lvl7pPr>
            <a:lvl8pPr lvl="7">
              <a:spcBef>
                <a:spcPts val="1500"/>
              </a:spcBef>
              <a:spcAft>
                <a:spcPts val="0"/>
              </a:spcAft>
              <a:buSzPts val="1500"/>
              <a:buNone/>
              <a:defRPr b="1" sz="1500"/>
            </a:lvl8pPr>
            <a:lvl9pPr lvl="8">
              <a:spcBef>
                <a:spcPts val="1500"/>
              </a:spcBef>
              <a:spcAft>
                <a:spcPts val="1500"/>
              </a:spcAft>
              <a:buSzPts val="1500"/>
              <a:buNone/>
              <a:defRPr b="1" sz="15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5"/>
          <p:cNvSpPr txBox="1"/>
          <p:nvPr>
            <p:ph idx="1" type="body"/>
          </p:nvPr>
        </p:nvSpPr>
        <p:spPr>
          <a:xfrm>
            <a:off x="311700" y="1022608"/>
            <a:ext cx="8520600" cy="3574800"/>
          </a:xfrm>
          <a:prstGeom prst="rect">
            <a:avLst/>
          </a:prstGeom>
        </p:spPr>
        <p:txBody>
          <a:bodyPr anchorCtr="0" anchor="t" bIns="86450" lIns="86450" spcFirstLastPara="1" rIns="86450" wrap="square" tIns="86450">
            <a:noAutofit/>
          </a:bodyPr>
          <a:lstStyle>
            <a:lvl1pPr indent="-317500" lvl="0" marL="457200">
              <a:spcBef>
                <a:spcPts val="0"/>
              </a:spcBef>
              <a:spcAft>
                <a:spcPts val="0"/>
              </a:spcAft>
              <a:buSzPts val="1400"/>
              <a:buFont typeface="Poppins"/>
              <a:buChar char="•"/>
              <a:defRPr sz="1400">
                <a:latin typeface="Poppins"/>
                <a:ea typeface="Poppins"/>
                <a:cs typeface="Poppins"/>
                <a:sym typeface="Poppins"/>
              </a:defRPr>
            </a:lvl1pPr>
            <a:lvl2pPr indent="-317500" lvl="1" marL="914400">
              <a:spcBef>
                <a:spcPts val="1500"/>
              </a:spcBef>
              <a:spcAft>
                <a:spcPts val="0"/>
              </a:spcAft>
              <a:buSzPts val="1400"/>
              <a:buFont typeface="Poppins"/>
              <a:buChar char="–"/>
              <a:defRPr>
                <a:latin typeface="Poppins"/>
                <a:ea typeface="Poppins"/>
                <a:cs typeface="Poppins"/>
                <a:sym typeface="Poppins"/>
              </a:defRPr>
            </a:lvl2pPr>
            <a:lvl3pPr indent="-317500" lvl="2" marL="1371600">
              <a:spcBef>
                <a:spcPts val="1500"/>
              </a:spcBef>
              <a:spcAft>
                <a:spcPts val="0"/>
              </a:spcAft>
              <a:buSzPts val="1400"/>
              <a:buFont typeface="Poppins"/>
              <a:buChar char="▪"/>
              <a:defRPr>
                <a:latin typeface="Poppins"/>
                <a:ea typeface="Poppins"/>
                <a:cs typeface="Poppins"/>
                <a:sym typeface="Poppins"/>
              </a:defRPr>
            </a:lvl3pPr>
            <a:lvl4pPr indent="-317500" lvl="3" marL="1828800">
              <a:spcBef>
                <a:spcPts val="1500"/>
              </a:spcBef>
              <a:spcAft>
                <a:spcPts val="0"/>
              </a:spcAft>
              <a:buSzPts val="1400"/>
              <a:buFont typeface="Poppins"/>
              <a:buChar char="•"/>
              <a:defRPr>
                <a:latin typeface="Poppins"/>
                <a:ea typeface="Poppins"/>
                <a:cs typeface="Poppins"/>
                <a:sym typeface="Poppins"/>
              </a:defRPr>
            </a:lvl4pPr>
            <a:lvl5pPr indent="-317500" lvl="4" marL="2286000">
              <a:spcBef>
                <a:spcPts val="1500"/>
              </a:spcBef>
              <a:spcAft>
                <a:spcPts val="0"/>
              </a:spcAft>
              <a:buSzPts val="1400"/>
              <a:buFont typeface="Poppins"/>
              <a:buChar char="–"/>
              <a:defRPr>
                <a:latin typeface="Poppins"/>
                <a:ea typeface="Poppins"/>
                <a:cs typeface="Poppins"/>
                <a:sym typeface="Poppins"/>
              </a:defRPr>
            </a:lvl5pPr>
            <a:lvl6pPr indent="-317500" lvl="5" marL="2743200">
              <a:spcBef>
                <a:spcPts val="1500"/>
              </a:spcBef>
              <a:spcAft>
                <a:spcPts val="0"/>
              </a:spcAft>
              <a:buSzPts val="1400"/>
              <a:buFont typeface="Poppins"/>
              <a:buChar char="▪"/>
              <a:defRPr>
                <a:latin typeface="Poppins"/>
                <a:ea typeface="Poppins"/>
                <a:cs typeface="Poppins"/>
                <a:sym typeface="Poppins"/>
              </a:defRPr>
            </a:lvl6pPr>
            <a:lvl7pPr indent="-317500" lvl="6" marL="3200400">
              <a:spcBef>
                <a:spcPts val="1500"/>
              </a:spcBef>
              <a:spcAft>
                <a:spcPts val="0"/>
              </a:spcAft>
              <a:buSzPts val="1400"/>
              <a:buFont typeface="Poppins"/>
              <a:buChar char="●"/>
              <a:defRPr>
                <a:latin typeface="Poppins"/>
                <a:ea typeface="Poppins"/>
                <a:cs typeface="Poppins"/>
                <a:sym typeface="Poppins"/>
              </a:defRPr>
            </a:lvl7pPr>
            <a:lvl8pPr indent="-317500" lvl="7" marL="3657600">
              <a:spcBef>
                <a:spcPts val="1500"/>
              </a:spcBef>
              <a:spcAft>
                <a:spcPts val="0"/>
              </a:spcAft>
              <a:buSzPts val="1400"/>
              <a:buFont typeface="Poppins"/>
              <a:buChar char="○"/>
              <a:defRPr>
                <a:latin typeface="Poppins"/>
                <a:ea typeface="Poppins"/>
                <a:cs typeface="Poppins"/>
                <a:sym typeface="Poppins"/>
              </a:defRPr>
            </a:lvl8pPr>
            <a:lvl9pPr indent="-317500" lvl="8" marL="4114800">
              <a:spcBef>
                <a:spcPts val="1500"/>
              </a:spcBef>
              <a:spcAft>
                <a:spcPts val="1500"/>
              </a:spcAft>
              <a:buSzPts val="1400"/>
              <a:buFont typeface="Poppins"/>
              <a:buChar char="■"/>
              <a:defRPr>
                <a:latin typeface="Poppins"/>
                <a:ea typeface="Poppins"/>
                <a:cs typeface="Poppins"/>
                <a:sym typeface="Poppins"/>
              </a:defRPr>
            </a:lvl9pPr>
          </a:lstStyle>
          <a:p/>
        </p:txBody>
      </p:sp>
      <p:sp>
        <p:nvSpPr>
          <p:cNvPr id="63" name="Google Shape;63;p15"/>
          <p:cNvSpPr txBox="1"/>
          <p:nvPr>
            <p:ph idx="12" type="sldNum"/>
          </p:nvPr>
        </p:nvSpPr>
        <p:spPr>
          <a:xfrm>
            <a:off x="3849450" y="4710800"/>
            <a:ext cx="1445100" cy="393300"/>
          </a:xfrm>
          <a:prstGeom prst="rect">
            <a:avLst/>
          </a:prstGeom>
        </p:spPr>
        <p:txBody>
          <a:bodyPr anchorCtr="0" anchor="ctr" bIns="86450" lIns="86450" spcFirstLastPara="1" rIns="86450" wrap="square" tIns="86450">
            <a:noAutofit/>
          </a:bodyPr>
          <a:lstStyle>
            <a:lvl1pPr lvl="0" algn="ctr">
              <a:buNone/>
              <a:defRPr sz="800">
                <a:solidFill>
                  <a:srgbClr val="FFFFFF"/>
                </a:solidFill>
                <a:latin typeface="Poppins"/>
                <a:ea typeface="Poppins"/>
                <a:cs typeface="Poppins"/>
                <a:sym typeface="Poppins"/>
              </a:defRPr>
            </a:lvl1pPr>
            <a:lvl2pPr lvl="1" algn="ctr">
              <a:buNone/>
              <a:defRPr sz="800">
                <a:solidFill>
                  <a:srgbClr val="FFFFFF"/>
                </a:solidFill>
                <a:latin typeface="Poppins"/>
                <a:ea typeface="Poppins"/>
                <a:cs typeface="Poppins"/>
                <a:sym typeface="Poppins"/>
              </a:defRPr>
            </a:lvl2pPr>
            <a:lvl3pPr lvl="2" algn="ctr">
              <a:buNone/>
              <a:defRPr sz="800">
                <a:solidFill>
                  <a:srgbClr val="FFFFFF"/>
                </a:solidFill>
                <a:latin typeface="Poppins"/>
                <a:ea typeface="Poppins"/>
                <a:cs typeface="Poppins"/>
                <a:sym typeface="Poppins"/>
              </a:defRPr>
            </a:lvl3pPr>
            <a:lvl4pPr lvl="3" algn="ctr">
              <a:buNone/>
              <a:defRPr sz="800">
                <a:solidFill>
                  <a:srgbClr val="FFFFFF"/>
                </a:solidFill>
                <a:latin typeface="Poppins"/>
                <a:ea typeface="Poppins"/>
                <a:cs typeface="Poppins"/>
                <a:sym typeface="Poppins"/>
              </a:defRPr>
            </a:lvl4pPr>
            <a:lvl5pPr lvl="4" algn="ctr">
              <a:buNone/>
              <a:defRPr sz="800">
                <a:solidFill>
                  <a:srgbClr val="FFFFFF"/>
                </a:solidFill>
                <a:latin typeface="Poppins"/>
                <a:ea typeface="Poppins"/>
                <a:cs typeface="Poppins"/>
                <a:sym typeface="Poppins"/>
              </a:defRPr>
            </a:lvl5pPr>
            <a:lvl6pPr lvl="5" algn="ctr">
              <a:buNone/>
              <a:defRPr sz="800">
                <a:solidFill>
                  <a:srgbClr val="FFFFFF"/>
                </a:solidFill>
                <a:latin typeface="Poppins"/>
                <a:ea typeface="Poppins"/>
                <a:cs typeface="Poppins"/>
                <a:sym typeface="Poppins"/>
              </a:defRPr>
            </a:lvl6pPr>
            <a:lvl7pPr lvl="6" algn="ctr">
              <a:buNone/>
              <a:defRPr sz="800">
                <a:solidFill>
                  <a:srgbClr val="FFFFFF"/>
                </a:solidFill>
                <a:latin typeface="Poppins"/>
                <a:ea typeface="Poppins"/>
                <a:cs typeface="Poppins"/>
                <a:sym typeface="Poppins"/>
              </a:defRPr>
            </a:lvl7pPr>
            <a:lvl8pPr lvl="7" algn="ctr">
              <a:buNone/>
              <a:defRPr sz="800">
                <a:solidFill>
                  <a:srgbClr val="FFFFFF"/>
                </a:solidFill>
                <a:latin typeface="Poppins"/>
                <a:ea typeface="Poppins"/>
                <a:cs typeface="Poppins"/>
                <a:sym typeface="Poppins"/>
              </a:defRPr>
            </a:lvl8pPr>
            <a:lvl9pPr lvl="8" algn="ctr">
              <a:buNone/>
              <a:defRPr sz="800">
                <a:solidFill>
                  <a:srgbClr val="FFFFFF"/>
                </a:solidFill>
                <a:latin typeface="Poppins"/>
                <a:ea typeface="Poppins"/>
                <a:cs typeface="Poppins"/>
                <a:sym typeface="Poppins"/>
              </a:defRPr>
            </a:lvl9pPr>
          </a:lstStyle>
          <a:p>
            <a:pPr indent="0" lvl="0" marL="0" rtl="0" algn="ctr">
              <a:spcBef>
                <a:spcPts val="0"/>
              </a:spcBef>
              <a:spcAft>
                <a:spcPts val="0"/>
              </a:spcAft>
              <a:buNone/>
            </a:pPr>
            <a:r>
              <a:rPr lang="en"/>
              <a:t> CONFIDENTIAL</a:t>
            </a:r>
            <a:endParaRPr/>
          </a:p>
        </p:txBody>
      </p:sp>
      <p:sp>
        <p:nvSpPr>
          <p:cNvPr id="64" name="Google Shape;64;p15"/>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lvl1pPr lvl="0">
              <a:spcBef>
                <a:spcPts val="0"/>
              </a:spcBef>
              <a:spcAft>
                <a:spcPts val="0"/>
              </a:spcAft>
              <a:buClr>
                <a:srgbClr val="FFFFFF"/>
              </a:buClr>
              <a:buSzPts val="2400"/>
              <a:buFont typeface="Poppins"/>
              <a:buNone/>
              <a:defRPr b="1">
                <a:solidFill>
                  <a:srgbClr val="FFFFFF"/>
                </a:solidFill>
                <a:latin typeface="Poppins"/>
                <a:ea typeface="Poppins"/>
                <a:cs typeface="Poppins"/>
                <a:sym typeface="Poppins"/>
              </a:defRPr>
            </a:lvl1pPr>
            <a:lvl2pPr lvl="1">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2pPr>
            <a:lvl3pPr lvl="2">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3pPr>
            <a:lvl4pPr lvl="3">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4pPr>
            <a:lvl5pPr lvl="4">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5pPr>
            <a:lvl6pPr lvl="5">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6pPr>
            <a:lvl7pPr lvl="6">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7pPr>
            <a:lvl8pPr lvl="7">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8pPr>
            <a:lvl9pPr lvl="8">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9pPr>
          </a:lstStyle>
          <a:p/>
        </p:txBody>
      </p:sp>
      <p:cxnSp>
        <p:nvCxnSpPr>
          <p:cNvPr id="65" name="Google Shape;65;p15"/>
          <p:cNvCxnSpPr/>
          <p:nvPr/>
        </p:nvCxnSpPr>
        <p:spPr>
          <a:xfrm>
            <a:off x="9525" y="371085"/>
            <a:ext cx="1560600" cy="0"/>
          </a:xfrm>
          <a:prstGeom prst="straightConnector1">
            <a:avLst/>
          </a:prstGeom>
          <a:noFill/>
          <a:ln cap="flat" cmpd="sng" w="9525">
            <a:solidFill>
              <a:srgbClr val="CACBDA"/>
            </a:solidFill>
            <a:prstDash val="solid"/>
            <a:round/>
            <a:headEnd len="med" w="med" type="none"/>
            <a:tailEnd len="med" w="med" type="none"/>
          </a:ln>
        </p:spPr>
      </p:cxnSp>
      <p:sp>
        <p:nvSpPr>
          <p:cNvPr id="66" name="Google Shape;66;p15"/>
          <p:cNvSpPr txBox="1"/>
          <p:nvPr>
            <p:ph idx="2" type="sldNum"/>
          </p:nvPr>
        </p:nvSpPr>
        <p:spPr>
          <a:xfrm>
            <a:off x="83180" y="106425"/>
            <a:ext cx="345000" cy="236100"/>
          </a:xfrm>
          <a:prstGeom prst="rect">
            <a:avLst/>
          </a:prstGeom>
        </p:spPr>
        <p:txBody>
          <a:bodyPr anchorCtr="0" anchor="ctr" bIns="86450" lIns="86450" spcFirstLastPara="1" rIns="86450" wrap="square" tIns="86450">
            <a:noAutofit/>
          </a:bodyPr>
          <a:lstStyle>
            <a:lvl1pPr lvl="0" algn="l">
              <a:buNone/>
              <a:defRPr sz="900"/>
            </a:lvl1pPr>
            <a:lvl2pPr lvl="1" algn="l">
              <a:buNone/>
              <a:defRPr sz="900"/>
            </a:lvl2pPr>
            <a:lvl3pPr lvl="2" algn="l">
              <a:buNone/>
              <a:defRPr sz="900"/>
            </a:lvl3pPr>
            <a:lvl4pPr lvl="3" algn="l">
              <a:buNone/>
              <a:defRPr sz="900"/>
            </a:lvl4pPr>
            <a:lvl5pPr lvl="4" algn="l">
              <a:buNone/>
              <a:defRPr sz="900"/>
            </a:lvl5pPr>
            <a:lvl6pPr lvl="5" algn="l">
              <a:buNone/>
              <a:defRPr sz="900"/>
            </a:lvl6pPr>
            <a:lvl7pPr lvl="6" algn="l">
              <a:buNone/>
              <a:defRPr sz="900"/>
            </a:lvl7pPr>
            <a:lvl8pPr lvl="7" algn="l">
              <a:buNone/>
              <a:defRPr sz="900"/>
            </a:lvl8pPr>
            <a:lvl9pPr lvl="8" algn="l">
              <a:buNone/>
              <a:defRPr sz="900"/>
            </a:lvl9pPr>
          </a:lstStyle>
          <a:p>
            <a:pPr indent="0" lvl="0" marL="0" rtl="0" algn="l">
              <a:spcBef>
                <a:spcPts val="0"/>
              </a:spcBef>
              <a:spcAft>
                <a:spcPts val="0"/>
              </a:spcAft>
              <a:buNone/>
            </a:pPr>
            <a:fld id="{00000000-1234-1234-1234-123412341234}" type="slidenum">
              <a:rPr lang="en"/>
              <a:t>‹#›</a:t>
            </a:fld>
            <a:endParaRPr/>
          </a:p>
        </p:txBody>
      </p:sp>
      <p:pic>
        <p:nvPicPr>
          <p:cNvPr id="67" name="Google Shape;67;p15"/>
          <p:cNvPicPr preferRelativeResize="0"/>
          <p:nvPr/>
        </p:nvPicPr>
        <p:blipFill>
          <a:blip r:embed="rId2">
            <a:alphaModFix/>
          </a:blip>
          <a:stretch>
            <a:fillRect/>
          </a:stretch>
        </p:blipFill>
        <p:spPr>
          <a:xfrm>
            <a:off x="8431159" y="154360"/>
            <a:ext cx="452450" cy="4524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p:cSld name="CUSTOM">
    <p:spTree>
      <p:nvGrpSpPr>
        <p:cNvPr id="68" name="Shape 68"/>
        <p:cNvGrpSpPr/>
        <p:nvPr/>
      </p:nvGrpSpPr>
      <p:grpSpPr>
        <a:xfrm>
          <a:off x="0" y="0"/>
          <a:ext cx="0" cy="0"/>
          <a:chOff x="0" y="0"/>
          <a:chExt cx="0" cy="0"/>
        </a:xfrm>
      </p:grpSpPr>
      <p:sp>
        <p:nvSpPr>
          <p:cNvPr id="69" name="Google Shape;69;p16"/>
          <p:cNvSpPr txBox="1"/>
          <p:nvPr>
            <p:ph idx="12" type="sldNum"/>
          </p:nvPr>
        </p:nvSpPr>
        <p:spPr>
          <a:xfrm>
            <a:off x="3849450" y="4710800"/>
            <a:ext cx="1445100" cy="393300"/>
          </a:xfrm>
          <a:prstGeom prst="rect">
            <a:avLst/>
          </a:prstGeom>
        </p:spPr>
        <p:txBody>
          <a:bodyPr anchorCtr="0" anchor="ctr" bIns="86450" lIns="86450" spcFirstLastPara="1" rIns="86450" wrap="square" tIns="864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r>
              <a:rPr lang="en"/>
              <a:t> CONFIDENTIAL</a:t>
            </a:r>
            <a:endParaRPr/>
          </a:p>
        </p:txBody>
      </p:sp>
      <p:pic>
        <p:nvPicPr>
          <p:cNvPr id="70" name="Google Shape;70;p16"/>
          <p:cNvPicPr preferRelativeResize="0"/>
          <p:nvPr/>
        </p:nvPicPr>
        <p:blipFill rotWithShape="1">
          <a:blip r:embed="rId2">
            <a:alphaModFix/>
          </a:blip>
          <a:srcRect b="0" l="9649" r="0" t="0"/>
          <a:stretch/>
        </p:blipFill>
        <p:spPr>
          <a:xfrm>
            <a:off x="0" y="0"/>
            <a:ext cx="9144001" cy="5143500"/>
          </a:xfrm>
          <a:prstGeom prst="rect">
            <a:avLst/>
          </a:prstGeom>
          <a:noFill/>
          <a:ln>
            <a:noFill/>
          </a:ln>
        </p:spPr>
      </p:pic>
      <p:sp>
        <p:nvSpPr>
          <p:cNvPr id="71" name="Google Shape;71;p16"/>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lvl1pPr lvl="0">
              <a:spcBef>
                <a:spcPts val="0"/>
              </a:spcBef>
              <a:spcAft>
                <a:spcPts val="0"/>
              </a:spcAft>
              <a:buClr>
                <a:srgbClr val="FFFFFF"/>
              </a:buClr>
              <a:buSzPts val="2400"/>
              <a:buFont typeface="Poppins"/>
              <a:buNone/>
              <a:defRPr b="1">
                <a:solidFill>
                  <a:srgbClr val="FFFFFF"/>
                </a:solidFill>
                <a:latin typeface="Poppins"/>
                <a:ea typeface="Poppins"/>
                <a:cs typeface="Poppins"/>
                <a:sym typeface="Poppins"/>
              </a:defRPr>
            </a:lvl1pPr>
            <a:lvl2pPr lvl="1">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2pPr>
            <a:lvl3pPr lvl="2">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3pPr>
            <a:lvl4pPr lvl="3">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4pPr>
            <a:lvl5pPr lvl="4">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5pPr>
            <a:lvl6pPr lvl="5">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6pPr>
            <a:lvl7pPr lvl="6">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7pPr>
            <a:lvl8pPr lvl="7">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8pPr>
            <a:lvl9pPr lvl="8">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9pPr>
          </a:lstStyle>
          <a:p/>
        </p:txBody>
      </p:sp>
      <p:cxnSp>
        <p:nvCxnSpPr>
          <p:cNvPr id="72" name="Google Shape;72;p16"/>
          <p:cNvCxnSpPr/>
          <p:nvPr/>
        </p:nvCxnSpPr>
        <p:spPr>
          <a:xfrm>
            <a:off x="9525" y="371085"/>
            <a:ext cx="1560600" cy="0"/>
          </a:xfrm>
          <a:prstGeom prst="straightConnector1">
            <a:avLst/>
          </a:prstGeom>
          <a:noFill/>
          <a:ln cap="flat" cmpd="sng" w="9525">
            <a:solidFill>
              <a:srgbClr val="CACBDA"/>
            </a:solidFill>
            <a:prstDash val="solid"/>
            <a:round/>
            <a:headEnd len="med" w="med" type="none"/>
            <a:tailEnd len="med" w="med" type="none"/>
          </a:ln>
        </p:spPr>
      </p:cxnSp>
      <p:sp>
        <p:nvSpPr>
          <p:cNvPr id="73" name="Google Shape;73;p16"/>
          <p:cNvSpPr txBox="1"/>
          <p:nvPr>
            <p:ph idx="2" type="sldNum"/>
          </p:nvPr>
        </p:nvSpPr>
        <p:spPr>
          <a:xfrm>
            <a:off x="83180" y="106425"/>
            <a:ext cx="345000" cy="236100"/>
          </a:xfrm>
          <a:prstGeom prst="rect">
            <a:avLst/>
          </a:prstGeom>
        </p:spPr>
        <p:txBody>
          <a:bodyPr anchorCtr="0" anchor="ctr" bIns="86450" lIns="86450" spcFirstLastPara="1" rIns="86450" wrap="square" tIns="86450">
            <a:noAutofit/>
          </a:bodyPr>
          <a:lstStyle>
            <a:lvl1pPr lvl="0" algn="l">
              <a:buNone/>
              <a:defRPr sz="900"/>
            </a:lvl1pPr>
            <a:lvl2pPr lvl="1" algn="l">
              <a:buNone/>
              <a:defRPr sz="900"/>
            </a:lvl2pPr>
            <a:lvl3pPr lvl="2" algn="l">
              <a:buNone/>
              <a:defRPr sz="900"/>
            </a:lvl3pPr>
            <a:lvl4pPr lvl="3" algn="l">
              <a:buNone/>
              <a:defRPr sz="900"/>
            </a:lvl4pPr>
            <a:lvl5pPr lvl="4" algn="l">
              <a:buNone/>
              <a:defRPr sz="900"/>
            </a:lvl5pPr>
            <a:lvl6pPr lvl="5" algn="l">
              <a:buNone/>
              <a:defRPr sz="900"/>
            </a:lvl6pPr>
            <a:lvl7pPr lvl="6" algn="l">
              <a:buNone/>
              <a:defRPr sz="900"/>
            </a:lvl7pPr>
            <a:lvl8pPr lvl="7" algn="l">
              <a:buNone/>
              <a:defRPr sz="900"/>
            </a:lvl8pPr>
            <a:lvl9pPr lvl="8" algn="l">
              <a:buNone/>
              <a:defRPr sz="900"/>
            </a:lvl9pPr>
          </a:lstStyle>
          <a:p>
            <a:pPr indent="0" lvl="0" marL="0" rtl="0" algn="l">
              <a:spcBef>
                <a:spcPts val="0"/>
              </a:spcBef>
              <a:spcAft>
                <a:spcPts val="0"/>
              </a:spcAft>
              <a:buNone/>
            </a:pPr>
            <a:fld id="{00000000-1234-1234-1234-123412341234}" type="slidenum">
              <a:rPr lang="en"/>
              <a:t>‹#›</a:t>
            </a:fld>
            <a:endParaRPr/>
          </a:p>
        </p:txBody>
      </p:sp>
      <p:sp>
        <p:nvSpPr>
          <p:cNvPr id="74" name="Google Shape;74;p16"/>
          <p:cNvSpPr txBox="1"/>
          <p:nvPr/>
        </p:nvSpPr>
        <p:spPr>
          <a:xfrm>
            <a:off x="311700" y="1522425"/>
            <a:ext cx="5939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FFFFFF"/>
                </a:solidFill>
                <a:latin typeface="Poppins"/>
                <a:ea typeface="Poppins"/>
                <a:cs typeface="Poppins"/>
                <a:sym typeface="Poppins"/>
              </a:rPr>
              <a:t>Bedrock is a technology company building new systems to provide the </a:t>
            </a:r>
            <a:r>
              <a:rPr b="1" lang="en" sz="2400">
                <a:solidFill>
                  <a:srgbClr val="1AFF9D"/>
                </a:solidFill>
                <a:latin typeface="Poppins"/>
                <a:ea typeface="Poppins"/>
                <a:cs typeface="Poppins"/>
                <a:sym typeface="Poppins"/>
              </a:rPr>
              <a:t>first detailed map of our oceans.</a:t>
            </a:r>
            <a:endParaRPr b="1" sz="2400">
              <a:solidFill>
                <a:srgbClr val="1AFF9D"/>
              </a:solidFill>
              <a:latin typeface="Poppins"/>
              <a:ea typeface="Poppins"/>
              <a:cs typeface="Poppins"/>
              <a:sym typeface="Poppi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7"/>
          <p:cNvSpPr txBox="1"/>
          <p:nvPr/>
        </p:nvSpPr>
        <p:spPr>
          <a:xfrm>
            <a:off x="418225" y="1026595"/>
            <a:ext cx="8336100" cy="3630900"/>
          </a:xfrm>
          <a:prstGeom prst="rect">
            <a:avLst/>
          </a:prstGeom>
          <a:noFill/>
          <a:ln>
            <a:noFill/>
          </a:ln>
        </p:spPr>
        <p:txBody>
          <a:bodyPr anchorCtr="0" anchor="t" bIns="86450" lIns="86450" spcFirstLastPara="1" rIns="86450" wrap="square" tIns="86450">
            <a:noAutofit/>
          </a:bodyPr>
          <a:lstStyle/>
          <a:p>
            <a:pPr indent="0" lvl="0" marL="0" rtl="0" algn="l">
              <a:spcBef>
                <a:spcPts val="0"/>
              </a:spcBef>
              <a:spcAft>
                <a:spcPts val="0"/>
              </a:spcAft>
              <a:buNone/>
            </a:pPr>
            <a:r>
              <a:t/>
            </a:r>
            <a:endParaRPr sz="1400">
              <a:solidFill>
                <a:srgbClr val="75777B"/>
              </a:solidFill>
              <a:latin typeface="Poppins"/>
              <a:ea typeface="Poppins"/>
              <a:cs typeface="Poppins"/>
              <a:sym typeface="Poppins"/>
            </a:endParaRPr>
          </a:p>
        </p:txBody>
      </p:sp>
      <p:sp>
        <p:nvSpPr>
          <p:cNvPr id="77" name="Google Shape;77;p17"/>
          <p:cNvSpPr txBox="1"/>
          <p:nvPr>
            <p:ph idx="12" type="sldNum"/>
          </p:nvPr>
        </p:nvSpPr>
        <p:spPr>
          <a:xfrm>
            <a:off x="3849450" y="4710800"/>
            <a:ext cx="1445100" cy="393300"/>
          </a:xfrm>
          <a:prstGeom prst="rect">
            <a:avLst/>
          </a:prstGeom>
        </p:spPr>
        <p:txBody>
          <a:bodyPr anchorCtr="0" anchor="ctr" bIns="86450" lIns="86450" spcFirstLastPara="1" rIns="86450" wrap="square" tIns="86450">
            <a:noAutofit/>
          </a:bodyPr>
          <a:lstStyle>
            <a:lvl1pPr lvl="0" algn="ctr">
              <a:buNone/>
              <a:defRPr sz="800">
                <a:solidFill>
                  <a:srgbClr val="FFFFFF"/>
                </a:solidFill>
                <a:latin typeface="Poppins"/>
                <a:ea typeface="Poppins"/>
                <a:cs typeface="Poppins"/>
                <a:sym typeface="Poppins"/>
              </a:defRPr>
            </a:lvl1pPr>
            <a:lvl2pPr lvl="1" algn="ctr">
              <a:buNone/>
              <a:defRPr sz="800">
                <a:solidFill>
                  <a:srgbClr val="FFFFFF"/>
                </a:solidFill>
                <a:latin typeface="Poppins"/>
                <a:ea typeface="Poppins"/>
                <a:cs typeface="Poppins"/>
                <a:sym typeface="Poppins"/>
              </a:defRPr>
            </a:lvl2pPr>
            <a:lvl3pPr lvl="2" algn="ctr">
              <a:buNone/>
              <a:defRPr sz="800">
                <a:solidFill>
                  <a:srgbClr val="FFFFFF"/>
                </a:solidFill>
                <a:latin typeface="Poppins"/>
                <a:ea typeface="Poppins"/>
                <a:cs typeface="Poppins"/>
                <a:sym typeface="Poppins"/>
              </a:defRPr>
            </a:lvl3pPr>
            <a:lvl4pPr lvl="3" algn="ctr">
              <a:buNone/>
              <a:defRPr sz="800">
                <a:solidFill>
                  <a:srgbClr val="FFFFFF"/>
                </a:solidFill>
                <a:latin typeface="Poppins"/>
                <a:ea typeface="Poppins"/>
                <a:cs typeface="Poppins"/>
                <a:sym typeface="Poppins"/>
              </a:defRPr>
            </a:lvl4pPr>
            <a:lvl5pPr lvl="4" algn="ctr">
              <a:buNone/>
              <a:defRPr sz="800">
                <a:solidFill>
                  <a:srgbClr val="FFFFFF"/>
                </a:solidFill>
                <a:latin typeface="Poppins"/>
                <a:ea typeface="Poppins"/>
                <a:cs typeface="Poppins"/>
                <a:sym typeface="Poppins"/>
              </a:defRPr>
            </a:lvl5pPr>
            <a:lvl6pPr lvl="5" algn="ctr">
              <a:buNone/>
              <a:defRPr sz="800">
                <a:solidFill>
                  <a:srgbClr val="FFFFFF"/>
                </a:solidFill>
                <a:latin typeface="Poppins"/>
                <a:ea typeface="Poppins"/>
                <a:cs typeface="Poppins"/>
                <a:sym typeface="Poppins"/>
              </a:defRPr>
            </a:lvl6pPr>
            <a:lvl7pPr lvl="6" algn="ctr">
              <a:buNone/>
              <a:defRPr sz="800">
                <a:solidFill>
                  <a:srgbClr val="FFFFFF"/>
                </a:solidFill>
                <a:latin typeface="Poppins"/>
                <a:ea typeface="Poppins"/>
                <a:cs typeface="Poppins"/>
                <a:sym typeface="Poppins"/>
              </a:defRPr>
            </a:lvl7pPr>
            <a:lvl8pPr lvl="7" algn="ctr">
              <a:buNone/>
              <a:defRPr sz="800">
                <a:solidFill>
                  <a:srgbClr val="FFFFFF"/>
                </a:solidFill>
                <a:latin typeface="Poppins"/>
                <a:ea typeface="Poppins"/>
                <a:cs typeface="Poppins"/>
                <a:sym typeface="Poppins"/>
              </a:defRPr>
            </a:lvl8pPr>
            <a:lvl9pPr lvl="8" algn="ctr">
              <a:buNone/>
              <a:defRPr sz="800">
                <a:solidFill>
                  <a:srgbClr val="FFFFFF"/>
                </a:solidFill>
                <a:latin typeface="Poppins"/>
                <a:ea typeface="Poppins"/>
                <a:cs typeface="Poppins"/>
                <a:sym typeface="Poppins"/>
              </a:defRPr>
            </a:lvl9pPr>
          </a:lstStyle>
          <a:p>
            <a:pPr indent="0" lvl="0" marL="0" rtl="0" algn="ctr">
              <a:spcBef>
                <a:spcPts val="0"/>
              </a:spcBef>
              <a:spcAft>
                <a:spcPts val="0"/>
              </a:spcAft>
              <a:buNone/>
            </a:pPr>
            <a:r>
              <a:rPr lang="en"/>
              <a:t> CONFIDENTIAL</a:t>
            </a:r>
            <a:endParaRPr/>
          </a:p>
        </p:txBody>
      </p:sp>
      <p:sp>
        <p:nvSpPr>
          <p:cNvPr id="78" name="Google Shape;78;p17"/>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lvl1pPr lvl="0">
              <a:spcBef>
                <a:spcPts val="0"/>
              </a:spcBef>
              <a:spcAft>
                <a:spcPts val="0"/>
              </a:spcAft>
              <a:buClr>
                <a:srgbClr val="FFFFFF"/>
              </a:buClr>
              <a:buSzPts val="2400"/>
              <a:buFont typeface="Poppins"/>
              <a:buNone/>
              <a:defRPr b="1">
                <a:solidFill>
                  <a:srgbClr val="FFFFFF"/>
                </a:solidFill>
                <a:latin typeface="Poppins"/>
                <a:ea typeface="Poppins"/>
                <a:cs typeface="Poppins"/>
                <a:sym typeface="Poppins"/>
              </a:defRPr>
            </a:lvl1pPr>
            <a:lvl2pPr lvl="1">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2pPr>
            <a:lvl3pPr lvl="2">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3pPr>
            <a:lvl4pPr lvl="3">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4pPr>
            <a:lvl5pPr lvl="4">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5pPr>
            <a:lvl6pPr lvl="5">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6pPr>
            <a:lvl7pPr lvl="6">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7pPr>
            <a:lvl8pPr lvl="7">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8pPr>
            <a:lvl9pPr lvl="8">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9pPr>
          </a:lstStyle>
          <a:p/>
        </p:txBody>
      </p:sp>
      <p:cxnSp>
        <p:nvCxnSpPr>
          <p:cNvPr id="79" name="Google Shape;79;p17"/>
          <p:cNvCxnSpPr/>
          <p:nvPr/>
        </p:nvCxnSpPr>
        <p:spPr>
          <a:xfrm>
            <a:off x="9525" y="371085"/>
            <a:ext cx="1560600" cy="0"/>
          </a:xfrm>
          <a:prstGeom prst="straightConnector1">
            <a:avLst/>
          </a:prstGeom>
          <a:noFill/>
          <a:ln cap="flat" cmpd="sng" w="9525">
            <a:solidFill>
              <a:srgbClr val="CACBDA"/>
            </a:solidFill>
            <a:prstDash val="solid"/>
            <a:round/>
            <a:headEnd len="med" w="med" type="none"/>
            <a:tailEnd len="med" w="med" type="none"/>
          </a:ln>
        </p:spPr>
      </p:cxnSp>
      <p:sp>
        <p:nvSpPr>
          <p:cNvPr id="80" name="Google Shape;80;p17"/>
          <p:cNvSpPr txBox="1"/>
          <p:nvPr>
            <p:ph idx="2" type="sldNum"/>
          </p:nvPr>
        </p:nvSpPr>
        <p:spPr>
          <a:xfrm>
            <a:off x="83180" y="106425"/>
            <a:ext cx="345000" cy="236100"/>
          </a:xfrm>
          <a:prstGeom prst="rect">
            <a:avLst/>
          </a:prstGeom>
        </p:spPr>
        <p:txBody>
          <a:bodyPr anchorCtr="0" anchor="ctr" bIns="86450" lIns="86450" spcFirstLastPara="1" rIns="86450" wrap="square" tIns="86450">
            <a:noAutofit/>
          </a:bodyPr>
          <a:lstStyle>
            <a:lvl1pPr lvl="0" algn="l">
              <a:buNone/>
              <a:defRPr sz="900"/>
            </a:lvl1pPr>
            <a:lvl2pPr lvl="1" algn="l">
              <a:buNone/>
              <a:defRPr sz="900"/>
            </a:lvl2pPr>
            <a:lvl3pPr lvl="2" algn="l">
              <a:buNone/>
              <a:defRPr sz="900"/>
            </a:lvl3pPr>
            <a:lvl4pPr lvl="3" algn="l">
              <a:buNone/>
              <a:defRPr sz="900"/>
            </a:lvl4pPr>
            <a:lvl5pPr lvl="4" algn="l">
              <a:buNone/>
              <a:defRPr sz="900"/>
            </a:lvl5pPr>
            <a:lvl6pPr lvl="5" algn="l">
              <a:buNone/>
              <a:defRPr sz="900"/>
            </a:lvl6pPr>
            <a:lvl7pPr lvl="6" algn="l">
              <a:buNone/>
              <a:defRPr sz="900"/>
            </a:lvl7pPr>
            <a:lvl8pPr lvl="7" algn="l">
              <a:buNone/>
              <a:defRPr sz="900"/>
            </a:lvl8pPr>
            <a:lvl9pPr lvl="8" algn="l">
              <a:buNone/>
              <a:defRPr sz="900"/>
            </a:lvl9pPr>
          </a:lstStyle>
          <a:p>
            <a:pPr indent="0" lvl="0" marL="0" rtl="0" algn="l">
              <a:spcBef>
                <a:spcPts val="0"/>
              </a:spcBef>
              <a:spcAft>
                <a:spcPts val="0"/>
              </a:spcAft>
              <a:buNone/>
            </a:pPr>
            <a:fld id="{00000000-1234-1234-1234-123412341234}" type="slidenum">
              <a:rPr lang="en"/>
              <a:t>‹#›</a:t>
            </a:fld>
            <a:endParaRPr/>
          </a:p>
        </p:txBody>
      </p:sp>
      <p:pic>
        <p:nvPicPr>
          <p:cNvPr id="81" name="Google Shape;81;p17"/>
          <p:cNvPicPr preferRelativeResize="0"/>
          <p:nvPr/>
        </p:nvPicPr>
        <p:blipFill>
          <a:blip r:embed="rId2">
            <a:alphaModFix/>
          </a:blip>
          <a:stretch>
            <a:fillRect/>
          </a:stretch>
        </p:blipFill>
        <p:spPr>
          <a:xfrm>
            <a:off x="8431159" y="154360"/>
            <a:ext cx="452450" cy="45245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MAIN_POINT">
    <p:spTree>
      <p:nvGrpSpPr>
        <p:cNvPr id="82" name="Shape 82"/>
        <p:cNvGrpSpPr/>
        <p:nvPr/>
      </p:nvGrpSpPr>
      <p:grpSpPr>
        <a:xfrm>
          <a:off x="0" y="0"/>
          <a:ext cx="0" cy="0"/>
          <a:chOff x="0" y="0"/>
          <a:chExt cx="0" cy="0"/>
        </a:xfrm>
      </p:grpSpPr>
      <p:sp>
        <p:nvSpPr>
          <p:cNvPr id="83" name="Google Shape;83;p18"/>
          <p:cNvSpPr txBox="1"/>
          <p:nvPr>
            <p:ph type="title"/>
          </p:nvPr>
        </p:nvSpPr>
        <p:spPr>
          <a:xfrm>
            <a:off x="778280" y="1402690"/>
            <a:ext cx="4183500" cy="1110900"/>
          </a:xfrm>
          <a:prstGeom prst="rect">
            <a:avLst/>
          </a:prstGeom>
        </p:spPr>
        <p:txBody>
          <a:bodyPr anchorCtr="0" anchor="t" bIns="86450" lIns="86450" spcFirstLastPara="1" rIns="86450" wrap="square" tIns="86450">
            <a:noAutofit/>
          </a:bodyPr>
          <a:lstStyle>
            <a:lvl1pPr lvl="0">
              <a:spcBef>
                <a:spcPts val="0"/>
              </a:spcBef>
              <a:spcAft>
                <a:spcPts val="0"/>
              </a:spcAft>
              <a:buSzPts val="3600"/>
              <a:buFont typeface="Poppins"/>
              <a:buNone/>
              <a:defRPr sz="3600">
                <a:latin typeface="Poppins"/>
                <a:ea typeface="Poppins"/>
                <a:cs typeface="Poppins"/>
                <a:sym typeface="Poppins"/>
              </a:defRPr>
            </a:lvl1pPr>
            <a:lvl2pPr lvl="1">
              <a:spcBef>
                <a:spcPts val="0"/>
              </a:spcBef>
              <a:spcAft>
                <a:spcPts val="0"/>
              </a:spcAft>
              <a:buSzPts val="2600"/>
              <a:buFont typeface="Poppins"/>
              <a:buNone/>
              <a:defRPr sz="2600">
                <a:latin typeface="Poppins"/>
                <a:ea typeface="Poppins"/>
                <a:cs typeface="Poppins"/>
                <a:sym typeface="Poppins"/>
              </a:defRPr>
            </a:lvl2pPr>
            <a:lvl3pPr lvl="2">
              <a:spcBef>
                <a:spcPts val="0"/>
              </a:spcBef>
              <a:spcAft>
                <a:spcPts val="0"/>
              </a:spcAft>
              <a:buSzPts val="2600"/>
              <a:buFont typeface="Poppins"/>
              <a:buNone/>
              <a:defRPr sz="2600">
                <a:latin typeface="Poppins"/>
                <a:ea typeface="Poppins"/>
                <a:cs typeface="Poppins"/>
                <a:sym typeface="Poppins"/>
              </a:defRPr>
            </a:lvl3pPr>
            <a:lvl4pPr lvl="3">
              <a:spcBef>
                <a:spcPts val="0"/>
              </a:spcBef>
              <a:spcAft>
                <a:spcPts val="0"/>
              </a:spcAft>
              <a:buSzPts val="2600"/>
              <a:buFont typeface="Poppins"/>
              <a:buNone/>
              <a:defRPr sz="2600">
                <a:latin typeface="Poppins"/>
                <a:ea typeface="Poppins"/>
                <a:cs typeface="Poppins"/>
                <a:sym typeface="Poppins"/>
              </a:defRPr>
            </a:lvl4pPr>
            <a:lvl5pPr lvl="4">
              <a:spcBef>
                <a:spcPts val="0"/>
              </a:spcBef>
              <a:spcAft>
                <a:spcPts val="0"/>
              </a:spcAft>
              <a:buSzPts val="2600"/>
              <a:buFont typeface="Poppins"/>
              <a:buNone/>
              <a:defRPr sz="2600">
                <a:latin typeface="Poppins"/>
                <a:ea typeface="Poppins"/>
                <a:cs typeface="Poppins"/>
                <a:sym typeface="Poppins"/>
              </a:defRPr>
            </a:lvl5pPr>
            <a:lvl6pPr lvl="5">
              <a:spcBef>
                <a:spcPts val="0"/>
              </a:spcBef>
              <a:spcAft>
                <a:spcPts val="0"/>
              </a:spcAft>
              <a:buSzPts val="2600"/>
              <a:buFont typeface="Poppins"/>
              <a:buNone/>
              <a:defRPr sz="2600">
                <a:latin typeface="Poppins"/>
                <a:ea typeface="Poppins"/>
                <a:cs typeface="Poppins"/>
                <a:sym typeface="Poppins"/>
              </a:defRPr>
            </a:lvl6pPr>
            <a:lvl7pPr lvl="6">
              <a:spcBef>
                <a:spcPts val="0"/>
              </a:spcBef>
              <a:spcAft>
                <a:spcPts val="0"/>
              </a:spcAft>
              <a:buSzPts val="2600"/>
              <a:buFont typeface="Poppins"/>
              <a:buNone/>
              <a:defRPr sz="2600">
                <a:latin typeface="Poppins"/>
                <a:ea typeface="Poppins"/>
                <a:cs typeface="Poppins"/>
                <a:sym typeface="Poppins"/>
              </a:defRPr>
            </a:lvl7pPr>
            <a:lvl8pPr lvl="7">
              <a:spcBef>
                <a:spcPts val="0"/>
              </a:spcBef>
              <a:spcAft>
                <a:spcPts val="0"/>
              </a:spcAft>
              <a:buSzPts val="2600"/>
              <a:buFont typeface="Poppins"/>
              <a:buNone/>
              <a:defRPr sz="2600">
                <a:latin typeface="Poppins"/>
                <a:ea typeface="Poppins"/>
                <a:cs typeface="Poppins"/>
                <a:sym typeface="Poppins"/>
              </a:defRPr>
            </a:lvl8pPr>
            <a:lvl9pPr lvl="8">
              <a:spcBef>
                <a:spcPts val="0"/>
              </a:spcBef>
              <a:spcAft>
                <a:spcPts val="0"/>
              </a:spcAft>
              <a:buSzPts val="2600"/>
              <a:buFont typeface="Poppins"/>
              <a:buNone/>
              <a:defRPr sz="2600">
                <a:latin typeface="Poppins"/>
                <a:ea typeface="Poppins"/>
                <a:cs typeface="Poppins"/>
                <a:sym typeface="Poppins"/>
              </a:defRPr>
            </a:lvl9pPr>
          </a:lstStyle>
          <a:p/>
        </p:txBody>
      </p:sp>
      <p:sp>
        <p:nvSpPr>
          <p:cNvPr id="84" name="Google Shape;84;p18"/>
          <p:cNvSpPr/>
          <p:nvPr/>
        </p:nvSpPr>
        <p:spPr>
          <a:xfrm rot="5400000">
            <a:off x="387824" y="1626760"/>
            <a:ext cx="325800" cy="282000"/>
          </a:xfrm>
          <a:prstGeom prst="triangle">
            <a:avLst>
              <a:gd fmla="val 50000" name="adj"/>
            </a:avLst>
          </a:prstGeom>
          <a:solidFill>
            <a:srgbClr val="1AFF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 Pg #" type="blank">
  <p:cSld name="BLANK">
    <p:spTree>
      <p:nvGrpSpPr>
        <p:cNvPr id="85" name="Shape 85"/>
        <p:cNvGrpSpPr/>
        <p:nvPr/>
      </p:nvGrpSpPr>
      <p:grpSpPr>
        <a:xfrm>
          <a:off x="0" y="0"/>
          <a:ext cx="0" cy="0"/>
          <a:chOff x="0" y="0"/>
          <a:chExt cx="0" cy="0"/>
        </a:xfrm>
      </p:grpSpPr>
      <p:sp>
        <p:nvSpPr>
          <p:cNvPr id="86" name="Google Shape;86;p19"/>
          <p:cNvSpPr txBox="1"/>
          <p:nvPr>
            <p:ph idx="12" type="sldNum"/>
          </p:nvPr>
        </p:nvSpPr>
        <p:spPr>
          <a:xfrm>
            <a:off x="3849450" y="4710800"/>
            <a:ext cx="1445100" cy="393300"/>
          </a:xfrm>
          <a:prstGeom prst="rect">
            <a:avLst/>
          </a:prstGeom>
        </p:spPr>
        <p:txBody>
          <a:bodyPr anchorCtr="0" anchor="ctr" bIns="86450" lIns="86450" spcFirstLastPara="1" rIns="86450" wrap="square" tIns="86450">
            <a:noAutofit/>
          </a:bodyPr>
          <a:lstStyle>
            <a:lvl1pPr lvl="0" algn="ctr">
              <a:buNone/>
              <a:defRPr sz="800">
                <a:solidFill>
                  <a:srgbClr val="FFFFFF"/>
                </a:solidFill>
                <a:latin typeface="Poppins"/>
                <a:ea typeface="Poppins"/>
                <a:cs typeface="Poppins"/>
                <a:sym typeface="Poppins"/>
              </a:defRPr>
            </a:lvl1pPr>
            <a:lvl2pPr lvl="1" algn="ctr">
              <a:buNone/>
              <a:defRPr sz="800">
                <a:solidFill>
                  <a:srgbClr val="FFFFFF"/>
                </a:solidFill>
                <a:latin typeface="Poppins"/>
                <a:ea typeface="Poppins"/>
                <a:cs typeface="Poppins"/>
                <a:sym typeface="Poppins"/>
              </a:defRPr>
            </a:lvl2pPr>
            <a:lvl3pPr lvl="2" algn="ctr">
              <a:buNone/>
              <a:defRPr sz="800">
                <a:solidFill>
                  <a:srgbClr val="FFFFFF"/>
                </a:solidFill>
                <a:latin typeface="Poppins"/>
                <a:ea typeface="Poppins"/>
                <a:cs typeface="Poppins"/>
                <a:sym typeface="Poppins"/>
              </a:defRPr>
            </a:lvl3pPr>
            <a:lvl4pPr lvl="3" algn="ctr">
              <a:buNone/>
              <a:defRPr sz="800">
                <a:solidFill>
                  <a:srgbClr val="FFFFFF"/>
                </a:solidFill>
                <a:latin typeface="Poppins"/>
                <a:ea typeface="Poppins"/>
                <a:cs typeface="Poppins"/>
                <a:sym typeface="Poppins"/>
              </a:defRPr>
            </a:lvl4pPr>
            <a:lvl5pPr lvl="4" algn="ctr">
              <a:buNone/>
              <a:defRPr sz="800">
                <a:solidFill>
                  <a:srgbClr val="FFFFFF"/>
                </a:solidFill>
                <a:latin typeface="Poppins"/>
                <a:ea typeface="Poppins"/>
                <a:cs typeface="Poppins"/>
                <a:sym typeface="Poppins"/>
              </a:defRPr>
            </a:lvl5pPr>
            <a:lvl6pPr lvl="5" algn="ctr">
              <a:buNone/>
              <a:defRPr sz="800">
                <a:solidFill>
                  <a:srgbClr val="FFFFFF"/>
                </a:solidFill>
                <a:latin typeface="Poppins"/>
                <a:ea typeface="Poppins"/>
                <a:cs typeface="Poppins"/>
                <a:sym typeface="Poppins"/>
              </a:defRPr>
            </a:lvl6pPr>
            <a:lvl7pPr lvl="6" algn="ctr">
              <a:buNone/>
              <a:defRPr sz="800">
                <a:solidFill>
                  <a:srgbClr val="FFFFFF"/>
                </a:solidFill>
                <a:latin typeface="Poppins"/>
                <a:ea typeface="Poppins"/>
                <a:cs typeface="Poppins"/>
                <a:sym typeface="Poppins"/>
              </a:defRPr>
            </a:lvl7pPr>
            <a:lvl8pPr lvl="7" algn="ctr">
              <a:buNone/>
              <a:defRPr sz="800">
                <a:solidFill>
                  <a:srgbClr val="FFFFFF"/>
                </a:solidFill>
                <a:latin typeface="Poppins"/>
                <a:ea typeface="Poppins"/>
                <a:cs typeface="Poppins"/>
                <a:sym typeface="Poppins"/>
              </a:defRPr>
            </a:lvl8pPr>
            <a:lvl9pPr lvl="8" algn="ctr">
              <a:buNone/>
              <a:defRPr sz="800">
                <a:solidFill>
                  <a:srgbClr val="FFFFFF"/>
                </a:solidFill>
                <a:latin typeface="Poppins"/>
                <a:ea typeface="Poppins"/>
                <a:cs typeface="Poppins"/>
                <a:sym typeface="Poppins"/>
              </a:defRPr>
            </a:lvl9pPr>
          </a:lstStyle>
          <a:p>
            <a:pPr indent="0" lvl="0" marL="0" rtl="0" algn="ctr">
              <a:spcBef>
                <a:spcPts val="0"/>
              </a:spcBef>
              <a:spcAft>
                <a:spcPts val="0"/>
              </a:spcAft>
              <a:buNone/>
            </a:pPr>
            <a:r>
              <a:rPr lang="en"/>
              <a:t> CONFIDENTIAL</a:t>
            </a:r>
            <a:endParaRPr/>
          </a:p>
        </p:txBody>
      </p:sp>
      <p:cxnSp>
        <p:nvCxnSpPr>
          <p:cNvPr id="87" name="Google Shape;87;p19"/>
          <p:cNvCxnSpPr/>
          <p:nvPr/>
        </p:nvCxnSpPr>
        <p:spPr>
          <a:xfrm>
            <a:off x="9525" y="371085"/>
            <a:ext cx="1560600" cy="0"/>
          </a:xfrm>
          <a:prstGeom prst="straightConnector1">
            <a:avLst/>
          </a:prstGeom>
          <a:noFill/>
          <a:ln cap="flat" cmpd="sng" w="9525">
            <a:solidFill>
              <a:srgbClr val="CACBDA"/>
            </a:solidFill>
            <a:prstDash val="solid"/>
            <a:round/>
            <a:headEnd len="med" w="med" type="none"/>
            <a:tailEnd len="med" w="med" type="none"/>
          </a:ln>
        </p:spPr>
      </p:cxnSp>
      <p:sp>
        <p:nvSpPr>
          <p:cNvPr id="88" name="Google Shape;88;p19"/>
          <p:cNvSpPr txBox="1"/>
          <p:nvPr>
            <p:ph idx="2" type="sldNum"/>
          </p:nvPr>
        </p:nvSpPr>
        <p:spPr>
          <a:xfrm>
            <a:off x="83180" y="106425"/>
            <a:ext cx="345000" cy="236100"/>
          </a:xfrm>
          <a:prstGeom prst="rect">
            <a:avLst/>
          </a:prstGeom>
        </p:spPr>
        <p:txBody>
          <a:bodyPr anchorCtr="0" anchor="ctr" bIns="86450" lIns="86450" spcFirstLastPara="1" rIns="86450" wrap="square" tIns="86450">
            <a:noAutofit/>
          </a:bodyPr>
          <a:lstStyle>
            <a:lvl1pPr lvl="0" algn="l">
              <a:buNone/>
              <a:defRPr sz="900"/>
            </a:lvl1pPr>
            <a:lvl2pPr lvl="1" algn="l">
              <a:buNone/>
              <a:defRPr sz="900"/>
            </a:lvl2pPr>
            <a:lvl3pPr lvl="2" algn="l">
              <a:buNone/>
              <a:defRPr sz="900"/>
            </a:lvl3pPr>
            <a:lvl4pPr lvl="3" algn="l">
              <a:buNone/>
              <a:defRPr sz="900"/>
            </a:lvl4pPr>
            <a:lvl5pPr lvl="4" algn="l">
              <a:buNone/>
              <a:defRPr sz="900"/>
            </a:lvl5pPr>
            <a:lvl6pPr lvl="5" algn="l">
              <a:buNone/>
              <a:defRPr sz="900"/>
            </a:lvl6pPr>
            <a:lvl7pPr lvl="6" algn="l">
              <a:buNone/>
              <a:defRPr sz="900"/>
            </a:lvl7pPr>
            <a:lvl8pPr lvl="7" algn="l">
              <a:buNone/>
              <a:defRPr sz="900"/>
            </a:lvl8pPr>
            <a:lvl9pPr lvl="8" algn="l">
              <a:buNone/>
              <a:defRPr sz="900"/>
            </a:lvl9pPr>
          </a:lstStyle>
          <a:p>
            <a:pPr indent="0" lvl="0" marL="0" rtl="0" algn="l">
              <a:spcBef>
                <a:spcPts val="0"/>
              </a:spcBef>
              <a:spcAft>
                <a:spcPts val="0"/>
              </a:spcAft>
              <a:buNone/>
            </a:pPr>
            <a:fld id="{00000000-1234-1234-1234-123412341234}" type="slidenum">
              <a:rPr lang="en"/>
              <a:t>‹#›</a:t>
            </a:fld>
            <a:endParaRPr/>
          </a:p>
        </p:txBody>
      </p:sp>
      <p:pic>
        <p:nvPicPr>
          <p:cNvPr id="89" name="Google Shape;89;p19"/>
          <p:cNvPicPr preferRelativeResize="0"/>
          <p:nvPr/>
        </p:nvPicPr>
        <p:blipFill>
          <a:blip r:embed="rId2">
            <a:alphaModFix/>
          </a:blip>
          <a:stretch>
            <a:fillRect/>
          </a:stretch>
        </p:blipFill>
        <p:spPr>
          <a:xfrm>
            <a:off x="8431159" y="154360"/>
            <a:ext cx="452450" cy="4524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 Title">
  <p:cSld name="CUSTOM_1">
    <p:spTree>
      <p:nvGrpSpPr>
        <p:cNvPr id="90" name="Shape 90"/>
        <p:cNvGrpSpPr/>
        <p:nvPr/>
      </p:nvGrpSpPr>
      <p:grpSpPr>
        <a:xfrm>
          <a:off x="0" y="0"/>
          <a:ext cx="0" cy="0"/>
          <a:chOff x="0" y="0"/>
          <a:chExt cx="0" cy="0"/>
        </a:xfrm>
      </p:grpSpPr>
      <p:sp>
        <p:nvSpPr>
          <p:cNvPr id="91" name="Google Shape;91;p20"/>
          <p:cNvSpPr txBox="1"/>
          <p:nvPr>
            <p:ph idx="12" type="sldNum"/>
          </p:nvPr>
        </p:nvSpPr>
        <p:spPr>
          <a:xfrm>
            <a:off x="3849450" y="4710800"/>
            <a:ext cx="1445100" cy="393300"/>
          </a:xfrm>
          <a:prstGeom prst="rect">
            <a:avLst/>
          </a:prstGeom>
        </p:spPr>
        <p:txBody>
          <a:bodyPr anchorCtr="0" anchor="ctr" bIns="86450" lIns="86450" spcFirstLastPara="1" rIns="86450" wrap="square" tIns="864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r>
              <a:rPr lang="en"/>
              <a:t> CONFIDENTIAL</a:t>
            </a:r>
            <a:endParaRPr/>
          </a:p>
        </p:txBody>
      </p:sp>
      <p:sp>
        <p:nvSpPr>
          <p:cNvPr id="92" name="Google Shape;92;p20"/>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lvl1pPr lvl="0">
              <a:spcBef>
                <a:spcPts val="0"/>
              </a:spcBef>
              <a:spcAft>
                <a:spcPts val="0"/>
              </a:spcAft>
              <a:buClr>
                <a:srgbClr val="FFFFFF"/>
              </a:buClr>
              <a:buSzPts val="2400"/>
              <a:buFont typeface="Poppins"/>
              <a:buNone/>
              <a:defRPr b="1">
                <a:solidFill>
                  <a:srgbClr val="FFFFFF"/>
                </a:solidFill>
                <a:latin typeface="Poppins"/>
                <a:ea typeface="Poppins"/>
                <a:cs typeface="Poppins"/>
                <a:sym typeface="Poppins"/>
              </a:defRPr>
            </a:lvl1pPr>
            <a:lvl2pPr lvl="1">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2pPr>
            <a:lvl3pPr lvl="2">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3pPr>
            <a:lvl4pPr lvl="3">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4pPr>
            <a:lvl5pPr lvl="4">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5pPr>
            <a:lvl6pPr lvl="5">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6pPr>
            <a:lvl7pPr lvl="6">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7pPr>
            <a:lvl8pPr lvl="7">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8pPr>
            <a:lvl9pPr lvl="8">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9pPr>
          </a:lstStyle>
          <a:p/>
        </p:txBody>
      </p:sp>
      <p:pic>
        <p:nvPicPr>
          <p:cNvPr id="93" name="Google Shape;93;p20"/>
          <p:cNvPicPr preferRelativeResize="0"/>
          <p:nvPr/>
        </p:nvPicPr>
        <p:blipFill>
          <a:blip r:embed="rId2">
            <a:alphaModFix/>
          </a:blip>
          <a:stretch>
            <a:fillRect/>
          </a:stretch>
        </p:blipFill>
        <p:spPr>
          <a:xfrm>
            <a:off x="8431159" y="154360"/>
            <a:ext cx="452450" cy="4524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1"/>
          <p:cNvSpPr txBox="1"/>
          <p:nvPr>
            <p:ph type="title"/>
          </p:nvPr>
        </p:nvSpPr>
        <p:spPr>
          <a:xfrm>
            <a:off x="311700" y="2150850"/>
            <a:ext cx="8520600" cy="841800"/>
          </a:xfrm>
          <a:prstGeom prst="rect">
            <a:avLst/>
          </a:prstGeom>
        </p:spPr>
        <p:txBody>
          <a:bodyPr anchorCtr="0" anchor="ctr" bIns="86450" lIns="86450" spcFirstLastPara="1" rIns="86450" wrap="square" tIns="8645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86450" lIns="86450" spcFirstLastPara="1" rIns="86450" wrap="square" tIns="8645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20723"/>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21383"/>
            <a:ext cx="8520600" cy="572700"/>
          </a:xfrm>
          <a:prstGeom prst="rect">
            <a:avLst/>
          </a:prstGeom>
          <a:noFill/>
          <a:ln>
            <a:noFill/>
          </a:ln>
        </p:spPr>
        <p:txBody>
          <a:bodyPr anchorCtr="0" anchor="t" bIns="86450" lIns="86450" spcFirstLastPara="1" rIns="86450" wrap="square" tIns="86450">
            <a:noAutofit/>
          </a:bodyPr>
          <a:lstStyle>
            <a:lvl1pPr lvl="0">
              <a:spcBef>
                <a:spcPts val="0"/>
              </a:spcBef>
              <a:spcAft>
                <a:spcPts val="0"/>
              </a:spcAft>
              <a:buClr>
                <a:srgbClr val="FFFFFF"/>
              </a:buClr>
              <a:buSzPts val="2400"/>
              <a:buFont typeface="Poppins"/>
              <a:buNone/>
              <a:defRPr b="1" sz="2400">
                <a:solidFill>
                  <a:srgbClr val="FFFFFF"/>
                </a:solidFill>
                <a:latin typeface="Poppins"/>
                <a:ea typeface="Poppins"/>
                <a:cs typeface="Poppins"/>
                <a:sym typeface="Poppins"/>
              </a:defRPr>
            </a:lvl1pPr>
            <a:lvl2pPr lvl="1">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2pPr>
            <a:lvl3pPr lvl="2">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3pPr>
            <a:lvl4pPr lvl="3">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4pPr>
            <a:lvl5pPr lvl="4">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5pPr>
            <a:lvl6pPr lvl="5">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6pPr>
            <a:lvl7pPr lvl="6">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7pPr>
            <a:lvl8pPr lvl="7">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8pPr>
            <a:lvl9pPr lvl="8">
              <a:spcBef>
                <a:spcPts val="0"/>
              </a:spcBef>
              <a:spcAft>
                <a:spcPts val="0"/>
              </a:spcAft>
              <a:buClr>
                <a:srgbClr val="FFFFFF"/>
              </a:buClr>
              <a:buSzPts val="2300"/>
              <a:buFont typeface="Poppins"/>
              <a:buNone/>
              <a:defRPr sz="2300">
                <a:solidFill>
                  <a:srgbClr val="FFFFFF"/>
                </a:solidFill>
                <a:latin typeface="Poppins"/>
                <a:ea typeface="Poppins"/>
                <a:cs typeface="Poppins"/>
                <a:sym typeface="Poppins"/>
              </a:defRPr>
            </a:lvl9pPr>
          </a:lstStyle>
          <a:p/>
        </p:txBody>
      </p:sp>
      <p:sp>
        <p:nvSpPr>
          <p:cNvPr id="52" name="Google Shape;52;p13"/>
          <p:cNvSpPr txBox="1"/>
          <p:nvPr>
            <p:ph idx="1" type="body"/>
          </p:nvPr>
        </p:nvSpPr>
        <p:spPr>
          <a:xfrm>
            <a:off x="311700" y="994063"/>
            <a:ext cx="8520600" cy="3574800"/>
          </a:xfrm>
          <a:prstGeom prst="rect">
            <a:avLst/>
          </a:prstGeom>
          <a:noFill/>
          <a:ln>
            <a:noFill/>
          </a:ln>
        </p:spPr>
        <p:txBody>
          <a:bodyPr anchorCtr="0" anchor="t" bIns="86450" lIns="86450" spcFirstLastPara="1" rIns="86450" wrap="square" tIns="86450">
            <a:noAutofit/>
          </a:bodyPr>
          <a:lstStyle>
            <a:lvl1pPr indent="-336550" lvl="0" marL="457200">
              <a:lnSpc>
                <a:spcPct val="115000"/>
              </a:lnSpc>
              <a:spcBef>
                <a:spcPts val="0"/>
              </a:spcBef>
              <a:spcAft>
                <a:spcPts val="0"/>
              </a:spcAft>
              <a:buClr>
                <a:srgbClr val="FFFFFF"/>
              </a:buClr>
              <a:buSzPts val="1700"/>
              <a:buFont typeface="Poppins"/>
              <a:buChar char="●"/>
              <a:defRPr sz="1700">
                <a:solidFill>
                  <a:srgbClr val="FFFFFF"/>
                </a:solidFill>
                <a:latin typeface="Poppins"/>
                <a:ea typeface="Poppins"/>
                <a:cs typeface="Poppins"/>
                <a:sym typeface="Poppins"/>
              </a:defRPr>
            </a:lvl1pPr>
            <a:lvl2pPr indent="-317500" lvl="1" marL="914400">
              <a:lnSpc>
                <a:spcPct val="115000"/>
              </a:lnSpc>
              <a:spcBef>
                <a:spcPts val="1500"/>
              </a:spcBef>
              <a:spcAft>
                <a:spcPts val="0"/>
              </a:spcAft>
              <a:buClr>
                <a:srgbClr val="FFFFFF"/>
              </a:buClr>
              <a:buSzPts val="1400"/>
              <a:buFont typeface="Poppins"/>
              <a:buChar char="○"/>
              <a:defRPr sz="1400">
                <a:solidFill>
                  <a:srgbClr val="FFFFFF"/>
                </a:solidFill>
                <a:latin typeface="Poppins"/>
                <a:ea typeface="Poppins"/>
                <a:cs typeface="Poppins"/>
                <a:sym typeface="Poppins"/>
              </a:defRPr>
            </a:lvl2pPr>
            <a:lvl3pPr indent="-317500" lvl="2" marL="1371600">
              <a:lnSpc>
                <a:spcPct val="115000"/>
              </a:lnSpc>
              <a:spcBef>
                <a:spcPts val="1500"/>
              </a:spcBef>
              <a:spcAft>
                <a:spcPts val="0"/>
              </a:spcAft>
              <a:buClr>
                <a:srgbClr val="FFFFFF"/>
              </a:buClr>
              <a:buSzPts val="1400"/>
              <a:buFont typeface="Poppins"/>
              <a:buChar char="■"/>
              <a:defRPr sz="1400">
                <a:solidFill>
                  <a:srgbClr val="FFFFFF"/>
                </a:solidFill>
                <a:latin typeface="Poppins"/>
                <a:ea typeface="Poppins"/>
                <a:cs typeface="Poppins"/>
                <a:sym typeface="Poppins"/>
              </a:defRPr>
            </a:lvl3pPr>
            <a:lvl4pPr indent="-317500" lvl="3" marL="1828800">
              <a:lnSpc>
                <a:spcPct val="115000"/>
              </a:lnSpc>
              <a:spcBef>
                <a:spcPts val="1500"/>
              </a:spcBef>
              <a:spcAft>
                <a:spcPts val="0"/>
              </a:spcAft>
              <a:buClr>
                <a:srgbClr val="FFFFFF"/>
              </a:buClr>
              <a:buSzPts val="1400"/>
              <a:buFont typeface="Poppins"/>
              <a:buChar char="●"/>
              <a:defRPr sz="1400">
                <a:solidFill>
                  <a:srgbClr val="FFFFFF"/>
                </a:solidFill>
                <a:latin typeface="Poppins"/>
                <a:ea typeface="Poppins"/>
                <a:cs typeface="Poppins"/>
                <a:sym typeface="Poppins"/>
              </a:defRPr>
            </a:lvl4pPr>
            <a:lvl5pPr indent="-317500" lvl="4" marL="2286000">
              <a:lnSpc>
                <a:spcPct val="115000"/>
              </a:lnSpc>
              <a:spcBef>
                <a:spcPts val="1500"/>
              </a:spcBef>
              <a:spcAft>
                <a:spcPts val="0"/>
              </a:spcAft>
              <a:buClr>
                <a:srgbClr val="FFFFFF"/>
              </a:buClr>
              <a:buSzPts val="1400"/>
              <a:buFont typeface="Poppins"/>
              <a:buChar char="○"/>
              <a:defRPr sz="1400">
                <a:solidFill>
                  <a:srgbClr val="FFFFFF"/>
                </a:solidFill>
                <a:latin typeface="Poppins"/>
                <a:ea typeface="Poppins"/>
                <a:cs typeface="Poppins"/>
                <a:sym typeface="Poppins"/>
              </a:defRPr>
            </a:lvl5pPr>
            <a:lvl6pPr indent="-317500" lvl="5" marL="2743200">
              <a:lnSpc>
                <a:spcPct val="115000"/>
              </a:lnSpc>
              <a:spcBef>
                <a:spcPts val="1500"/>
              </a:spcBef>
              <a:spcAft>
                <a:spcPts val="0"/>
              </a:spcAft>
              <a:buClr>
                <a:srgbClr val="FFFFFF"/>
              </a:buClr>
              <a:buSzPts val="1400"/>
              <a:buFont typeface="Poppins"/>
              <a:buChar char="■"/>
              <a:defRPr sz="1400">
                <a:solidFill>
                  <a:srgbClr val="FFFFFF"/>
                </a:solidFill>
                <a:latin typeface="Poppins"/>
                <a:ea typeface="Poppins"/>
                <a:cs typeface="Poppins"/>
                <a:sym typeface="Poppins"/>
              </a:defRPr>
            </a:lvl6pPr>
            <a:lvl7pPr indent="-317500" lvl="6" marL="3200400">
              <a:lnSpc>
                <a:spcPct val="115000"/>
              </a:lnSpc>
              <a:spcBef>
                <a:spcPts val="1500"/>
              </a:spcBef>
              <a:spcAft>
                <a:spcPts val="0"/>
              </a:spcAft>
              <a:buClr>
                <a:srgbClr val="FFFFFF"/>
              </a:buClr>
              <a:buSzPts val="1400"/>
              <a:buFont typeface="Poppins"/>
              <a:buChar char="●"/>
              <a:defRPr sz="1400">
                <a:solidFill>
                  <a:srgbClr val="FFFFFF"/>
                </a:solidFill>
                <a:latin typeface="Poppins"/>
                <a:ea typeface="Poppins"/>
                <a:cs typeface="Poppins"/>
                <a:sym typeface="Poppins"/>
              </a:defRPr>
            </a:lvl7pPr>
            <a:lvl8pPr indent="-317500" lvl="7" marL="3657600">
              <a:lnSpc>
                <a:spcPct val="115000"/>
              </a:lnSpc>
              <a:spcBef>
                <a:spcPts val="1500"/>
              </a:spcBef>
              <a:spcAft>
                <a:spcPts val="0"/>
              </a:spcAft>
              <a:buClr>
                <a:srgbClr val="FFFFFF"/>
              </a:buClr>
              <a:buSzPts val="1400"/>
              <a:buFont typeface="Poppins"/>
              <a:buChar char="○"/>
              <a:defRPr sz="1400">
                <a:solidFill>
                  <a:srgbClr val="FFFFFF"/>
                </a:solidFill>
                <a:latin typeface="Poppins"/>
                <a:ea typeface="Poppins"/>
                <a:cs typeface="Poppins"/>
                <a:sym typeface="Poppins"/>
              </a:defRPr>
            </a:lvl8pPr>
            <a:lvl9pPr indent="-317500" lvl="8" marL="4114800">
              <a:lnSpc>
                <a:spcPct val="115000"/>
              </a:lnSpc>
              <a:spcBef>
                <a:spcPts val="1500"/>
              </a:spcBef>
              <a:spcAft>
                <a:spcPts val="1500"/>
              </a:spcAft>
              <a:buClr>
                <a:srgbClr val="FFFFFF"/>
              </a:buClr>
              <a:buSzPts val="1400"/>
              <a:buFont typeface="Poppins"/>
              <a:buChar char="■"/>
              <a:defRPr sz="1400">
                <a:solidFill>
                  <a:srgbClr val="FFFFFF"/>
                </a:solidFill>
                <a:latin typeface="Poppins"/>
                <a:ea typeface="Poppins"/>
                <a:cs typeface="Poppins"/>
                <a:sym typeface="Poppins"/>
              </a:defRPr>
            </a:lvl9pPr>
          </a:lstStyle>
          <a:p/>
        </p:txBody>
      </p:sp>
      <p:sp>
        <p:nvSpPr>
          <p:cNvPr id="53" name="Google Shape;53;p13"/>
          <p:cNvSpPr txBox="1"/>
          <p:nvPr>
            <p:ph idx="12" type="sldNum"/>
          </p:nvPr>
        </p:nvSpPr>
        <p:spPr>
          <a:xfrm>
            <a:off x="3849450" y="4663225"/>
            <a:ext cx="1445100" cy="393300"/>
          </a:xfrm>
          <a:prstGeom prst="rect">
            <a:avLst/>
          </a:prstGeom>
          <a:noFill/>
          <a:ln>
            <a:noFill/>
          </a:ln>
        </p:spPr>
        <p:txBody>
          <a:bodyPr anchorCtr="0" anchor="ctr" bIns="86450" lIns="86450" spcFirstLastPara="1" rIns="86450" wrap="square" tIns="86450">
            <a:noAutofit/>
          </a:bodyPr>
          <a:lstStyle>
            <a:lvl1pPr lvl="0" algn="ctr">
              <a:buNone/>
              <a:defRPr sz="800">
                <a:solidFill>
                  <a:srgbClr val="FFFFFF"/>
                </a:solidFill>
                <a:latin typeface="Poppins"/>
                <a:ea typeface="Poppins"/>
                <a:cs typeface="Poppins"/>
                <a:sym typeface="Poppins"/>
              </a:defRPr>
            </a:lvl1pPr>
            <a:lvl2pPr lvl="1" algn="ctr">
              <a:buNone/>
              <a:defRPr sz="800">
                <a:solidFill>
                  <a:srgbClr val="FFFFFF"/>
                </a:solidFill>
                <a:latin typeface="Poppins"/>
                <a:ea typeface="Poppins"/>
                <a:cs typeface="Poppins"/>
                <a:sym typeface="Poppins"/>
              </a:defRPr>
            </a:lvl2pPr>
            <a:lvl3pPr lvl="2" algn="ctr">
              <a:buNone/>
              <a:defRPr sz="800">
                <a:solidFill>
                  <a:srgbClr val="FFFFFF"/>
                </a:solidFill>
                <a:latin typeface="Poppins"/>
                <a:ea typeface="Poppins"/>
                <a:cs typeface="Poppins"/>
                <a:sym typeface="Poppins"/>
              </a:defRPr>
            </a:lvl3pPr>
            <a:lvl4pPr lvl="3" algn="ctr">
              <a:buNone/>
              <a:defRPr sz="800">
                <a:solidFill>
                  <a:srgbClr val="FFFFFF"/>
                </a:solidFill>
                <a:latin typeface="Poppins"/>
                <a:ea typeface="Poppins"/>
                <a:cs typeface="Poppins"/>
                <a:sym typeface="Poppins"/>
              </a:defRPr>
            </a:lvl4pPr>
            <a:lvl5pPr lvl="4" algn="ctr">
              <a:buNone/>
              <a:defRPr sz="800">
                <a:solidFill>
                  <a:srgbClr val="FFFFFF"/>
                </a:solidFill>
                <a:latin typeface="Poppins"/>
                <a:ea typeface="Poppins"/>
                <a:cs typeface="Poppins"/>
                <a:sym typeface="Poppins"/>
              </a:defRPr>
            </a:lvl5pPr>
            <a:lvl6pPr lvl="5" algn="ctr">
              <a:buNone/>
              <a:defRPr sz="800">
                <a:solidFill>
                  <a:srgbClr val="FFFFFF"/>
                </a:solidFill>
                <a:latin typeface="Poppins"/>
                <a:ea typeface="Poppins"/>
                <a:cs typeface="Poppins"/>
                <a:sym typeface="Poppins"/>
              </a:defRPr>
            </a:lvl6pPr>
            <a:lvl7pPr lvl="6" algn="ctr">
              <a:buNone/>
              <a:defRPr sz="800">
                <a:solidFill>
                  <a:srgbClr val="FFFFFF"/>
                </a:solidFill>
                <a:latin typeface="Poppins"/>
                <a:ea typeface="Poppins"/>
                <a:cs typeface="Poppins"/>
                <a:sym typeface="Poppins"/>
              </a:defRPr>
            </a:lvl7pPr>
            <a:lvl8pPr lvl="7" algn="ctr">
              <a:buNone/>
              <a:defRPr sz="800">
                <a:solidFill>
                  <a:srgbClr val="FFFFFF"/>
                </a:solidFill>
                <a:latin typeface="Poppins"/>
                <a:ea typeface="Poppins"/>
                <a:cs typeface="Poppins"/>
                <a:sym typeface="Poppins"/>
              </a:defRPr>
            </a:lvl8pPr>
            <a:lvl9pPr lvl="8" algn="ctr">
              <a:buNone/>
              <a:defRPr sz="800">
                <a:solidFill>
                  <a:srgbClr val="FFFFFF"/>
                </a:solidFill>
                <a:latin typeface="Poppins"/>
                <a:ea typeface="Poppins"/>
                <a:cs typeface="Poppins"/>
                <a:sym typeface="Poppins"/>
              </a:defRPr>
            </a:lvl9pPr>
          </a:lstStyle>
          <a:p>
            <a:pPr indent="0" lvl="0" marL="0" rtl="0" algn="ctr">
              <a:spcBef>
                <a:spcPts val="0"/>
              </a:spcBef>
              <a:spcAft>
                <a:spcPts val="0"/>
              </a:spcAft>
              <a:buNone/>
            </a:pPr>
            <a:r>
              <a:rPr lang="en"/>
              <a:t> CONFIDENTIAL</a:t>
            </a:r>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hyperlink" Target="http://brx-model-viewer.crescer.ai/" TargetMode="External"/><Relationship Id="rId6" Type="http://schemas.openxmlformats.org/officeDocument/2006/relationships/image" Target="../media/image14.png"/><Relationship Id="rId7"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723"/>
        </a:solidFill>
      </p:bgPr>
    </p:bg>
    <p:spTree>
      <p:nvGrpSpPr>
        <p:cNvPr id="100" name="Shape 100"/>
        <p:cNvGrpSpPr/>
        <p:nvPr/>
      </p:nvGrpSpPr>
      <p:grpSpPr>
        <a:xfrm>
          <a:off x="0" y="0"/>
          <a:ext cx="0" cy="0"/>
          <a:chOff x="0" y="0"/>
          <a:chExt cx="0" cy="0"/>
        </a:xfrm>
      </p:grpSpPr>
      <p:sp>
        <p:nvSpPr>
          <p:cNvPr id="101" name="Google Shape;101;p22"/>
          <p:cNvSpPr txBox="1"/>
          <p:nvPr>
            <p:ph type="title"/>
          </p:nvPr>
        </p:nvSpPr>
        <p:spPr>
          <a:xfrm>
            <a:off x="3541320" y="2093645"/>
            <a:ext cx="5280900" cy="827700"/>
          </a:xfrm>
          <a:prstGeom prst="rect">
            <a:avLst/>
          </a:prstGeom>
        </p:spPr>
        <p:txBody>
          <a:bodyPr anchorCtr="0" anchor="ctr" bIns="86450" lIns="86450" spcFirstLastPara="1" rIns="86450" wrap="square" tIns="86450">
            <a:noAutofit/>
          </a:bodyPr>
          <a:lstStyle/>
          <a:p>
            <a:pPr indent="0" lvl="0" marL="0" rtl="0" algn="l">
              <a:spcBef>
                <a:spcPts val="0"/>
              </a:spcBef>
              <a:spcAft>
                <a:spcPts val="0"/>
              </a:spcAft>
              <a:buNone/>
            </a:pPr>
            <a:r>
              <a:rPr lang="en"/>
              <a:t>Bedrock x Crescer AI</a:t>
            </a:r>
            <a:endParaRPr/>
          </a:p>
        </p:txBody>
      </p:sp>
      <p:sp>
        <p:nvSpPr>
          <p:cNvPr id="102" name="Google Shape;102;p22"/>
          <p:cNvSpPr txBox="1"/>
          <p:nvPr>
            <p:ph idx="1" type="subTitle"/>
          </p:nvPr>
        </p:nvSpPr>
        <p:spPr>
          <a:xfrm rot="-5400000">
            <a:off x="-972475" y="2367500"/>
            <a:ext cx="2758200" cy="347400"/>
          </a:xfrm>
          <a:prstGeom prst="rect">
            <a:avLst/>
          </a:prstGeom>
        </p:spPr>
        <p:txBody>
          <a:bodyPr anchorCtr="0" anchor="ctr" bIns="86450" lIns="86450" spcFirstLastPara="1" rIns="86450" wrap="square" tIns="86450">
            <a:noAutofit/>
          </a:bodyPr>
          <a:lstStyle/>
          <a:p>
            <a:pPr indent="0" lvl="0" marL="0" rtl="0" algn="ctr">
              <a:spcBef>
                <a:spcPts val="0"/>
              </a:spcBef>
              <a:spcAft>
                <a:spcPts val="0"/>
              </a:spcAft>
              <a:buNone/>
            </a:pPr>
            <a:r>
              <a:rPr lang="en"/>
              <a:t>January•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Agenda</a:t>
            </a:r>
            <a:endParaRPr/>
          </a:p>
        </p:txBody>
      </p:sp>
      <p:sp>
        <p:nvSpPr>
          <p:cNvPr id="108" name="Google Shape;108;p23"/>
          <p:cNvSpPr txBox="1"/>
          <p:nvPr/>
        </p:nvSpPr>
        <p:spPr>
          <a:xfrm>
            <a:off x="731000" y="1229400"/>
            <a:ext cx="6672000" cy="2007000"/>
          </a:xfrm>
          <a:prstGeom prst="rect">
            <a:avLst/>
          </a:prstGeom>
          <a:noFill/>
          <a:ln>
            <a:noFill/>
          </a:ln>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Clr>
                <a:srgbClr val="FFFFFF"/>
              </a:buClr>
              <a:buSzPts val="1700"/>
              <a:buFont typeface="Poppins"/>
              <a:buChar char="●"/>
            </a:pPr>
            <a:r>
              <a:rPr lang="en" sz="1700">
                <a:solidFill>
                  <a:srgbClr val="FFFFFF"/>
                </a:solidFill>
                <a:latin typeface="Poppins"/>
                <a:ea typeface="Poppins"/>
                <a:cs typeface="Poppins"/>
                <a:sym typeface="Poppins"/>
              </a:rPr>
              <a:t>Problem Formulation</a:t>
            </a:r>
            <a:endParaRPr sz="1700">
              <a:solidFill>
                <a:srgbClr val="FFFFFF"/>
              </a:solidFill>
              <a:latin typeface="Poppins"/>
              <a:ea typeface="Poppins"/>
              <a:cs typeface="Poppins"/>
              <a:sym typeface="Poppins"/>
            </a:endParaRPr>
          </a:p>
          <a:p>
            <a:pPr indent="-336550" lvl="0" marL="457200" rtl="0" algn="l">
              <a:lnSpc>
                <a:spcPct val="150000"/>
              </a:lnSpc>
              <a:spcBef>
                <a:spcPts val="0"/>
              </a:spcBef>
              <a:spcAft>
                <a:spcPts val="0"/>
              </a:spcAft>
              <a:buClr>
                <a:srgbClr val="FFFFFF"/>
              </a:buClr>
              <a:buSzPts val="1700"/>
              <a:buFont typeface="Poppins"/>
              <a:buChar char="●"/>
            </a:pPr>
            <a:r>
              <a:rPr lang="en" sz="1700">
                <a:solidFill>
                  <a:srgbClr val="FFFFFF"/>
                </a:solidFill>
                <a:latin typeface="Poppins"/>
                <a:ea typeface="Poppins"/>
                <a:cs typeface="Poppins"/>
                <a:sym typeface="Poppins"/>
              </a:rPr>
              <a:t>Solution Approach</a:t>
            </a:r>
            <a:endParaRPr sz="1700">
              <a:solidFill>
                <a:srgbClr val="FFFFFF"/>
              </a:solidFill>
              <a:latin typeface="Poppins"/>
              <a:ea typeface="Poppins"/>
              <a:cs typeface="Poppins"/>
              <a:sym typeface="Poppins"/>
            </a:endParaRPr>
          </a:p>
          <a:p>
            <a:pPr indent="-336550" lvl="0" marL="457200" rtl="0" algn="l">
              <a:lnSpc>
                <a:spcPct val="150000"/>
              </a:lnSpc>
              <a:spcBef>
                <a:spcPts val="0"/>
              </a:spcBef>
              <a:spcAft>
                <a:spcPts val="0"/>
              </a:spcAft>
              <a:buClr>
                <a:srgbClr val="FFFFFF"/>
              </a:buClr>
              <a:buSzPts val="1700"/>
              <a:buFont typeface="Poppins"/>
              <a:buChar char="●"/>
            </a:pPr>
            <a:r>
              <a:rPr lang="en" sz="1700">
                <a:solidFill>
                  <a:srgbClr val="FFFFFF"/>
                </a:solidFill>
                <a:latin typeface="Poppins"/>
                <a:ea typeface="Poppins"/>
                <a:cs typeface="Poppins"/>
                <a:sym typeface="Poppins"/>
              </a:rPr>
              <a:t>Demo</a:t>
            </a:r>
            <a:endParaRPr sz="1700">
              <a:solidFill>
                <a:srgbClr val="FFFFFF"/>
              </a:solidFill>
              <a:latin typeface="Poppins"/>
              <a:ea typeface="Poppins"/>
              <a:cs typeface="Poppins"/>
              <a:sym typeface="Poppins"/>
            </a:endParaRPr>
          </a:p>
          <a:p>
            <a:pPr indent="-336550" lvl="0" marL="457200" rtl="0" algn="l">
              <a:lnSpc>
                <a:spcPct val="150000"/>
              </a:lnSpc>
              <a:spcBef>
                <a:spcPts val="0"/>
              </a:spcBef>
              <a:spcAft>
                <a:spcPts val="0"/>
              </a:spcAft>
              <a:buClr>
                <a:srgbClr val="FFFFFF"/>
              </a:buClr>
              <a:buSzPts val="1700"/>
              <a:buFont typeface="Poppins"/>
              <a:buChar char="●"/>
            </a:pPr>
            <a:r>
              <a:rPr lang="en" sz="1700">
                <a:solidFill>
                  <a:srgbClr val="FFFFFF"/>
                </a:solidFill>
                <a:latin typeface="Poppins"/>
                <a:ea typeface="Poppins"/>
                <a:cs typeface="Poppins"/>
                <a:sym typeface="Poppins"/>
              </a:rPr>
              <a:t>Results &amp; Discussion</a:t>
            </a:r>
            <a:endParaRPr sz="1700">
              <a:solidFill>
                <a:srgbClr val="FFFFFF"/>
              </a:solidFill>
              <a:latin typeface="Poppins"/>
              <a:ea typeface="Poppins"/>
              <a:cs typeface="Poppins"/>
              <a:sym typeface="Poppins"/>
            </a:endParaRPr>
          </a:p>
          <a:p>
            <a:pPr indent="-336550" lvl="0" marL="457200" rtl="0" algn="l">
              <a:lnSpc>
                <a:spcPct val="150000"/>
              </a:lnSpc>
              <a:spcBef>
                <a:spcPts val="0"/>
              </a:spcBef>
              <a:spcAft>
                <a:spcPts val="0"/>
              </a:spcAft>
              <a:buClr>
                <a:srgbClr val="FFFFFF"/>
              </a:buClr>
              <a:buSzPts val="1700"/>
              <a:buFont typeface="Poppins"/>
              <a:buChar char="●"/>
            </a:pPr>
            <a:r>
              <a:rPr lang="en" sz="1700">
                <a:solidFill>
                  <a:srgbClr val="FFFFFF"/>
                </a:solidFill>
                <a:latin typeface="Poppins"/>
                <a:ea typeface="Poppins"/>
                <a:cs typeface="Poppins"/>
                <a:sym typeface="Poppins"/>
              </a:rPr>
              <a:t>Next Steps</a:t>
            </a:r>
            <a:endParaRPr sz="170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idx="1" type="body"/>
          </p:nvPr>
        </p:nvSpPr>
        <p:spPr>
          <a:xfrm>
            <a:off x="311700" y="1022600"/>
            <a:ext cx="4607700" cy="3574800"/>
          </a:xfrm>
          <a:prstGeom prst="rect">
            <a:avLst/>
          </a:prstGeom>
        </p:spPr>
        <p:txBody>
          <a:bodyPr anchorCtr="0" anchor="t" bIns="86450" lIns="86450" spcFirstLastPara="1" rIns="86450" wrap="square" tIns="86450">
            <a:noAutofit/>
          </a:bodyPr>
          <a:lstStyle/>
          <a:p>
            <a:pPr indent="0" lvl="0" marL="0" rtl="0" algn="l">
              <a:lnSpc>
                <a:spcPct val="100000"/>
              </a:lnSpc>
              <a:spcBef>
                <a:spcPts val="0"/>
              </a:spcBef>
              <a:spcAft>
                <a:spcPts val="0"/>
              </a:spcAft>
              <a:buNone/>
            </a:pPr>
            <a:r>
              <a:rPr b="1" lang="en" sz="1200">
                <a:solidFill>
                  <a:srgbClr val="1AFF9D"/>
                </a:solidFill>
              </a:rPr>
              <a:t>Goal</a:t>
            </a:r>
            <a:endParaRPr b="1" sz="1200">
              <a:solidFill>
                <a:srgbClr val="1AFF9D"/>
              </a:solidFill>
            </a:endParaRPr>
          </a:p>
          <a:p>
            <a:pPr indent="-304800" lvl="0" marL="457200" rtl="0" algn="l">
              <a:lnSpc>
                <a:spcPct val="100000"/>
              </a:lnSpc>
              <a:spcBef>
                <a:spcPts val="0"/>
              </a:spcBef>
              <a:spcAft>
                <a:spcPts val="0"/>
              </a:spcAft>
              <a:buSzPts val="1200"/>
              <a:buChar char="●"/>
            </a:pPr>
            <a:r>
              <a:rPr lang="en" sz="1200"/>
              <a:t>Onboard model that auto-detects discrete objects on sidescan per swath in </a:t>
            </a:r>
            <a:r>
              <a:rPr lang="en" sz="1200"/>
              <a:t>waterfall mode</a:t>
            </a:r>
            <a:endParaRPr sz="1200"/>
          </a:p>
          <a:p>
            <a:pPr indent="-304800" lvl="0" marL="457200" rtl="0" algn="l">
              <a:lnSpc>
                <a:spcPct val="100000"/>
              </a:lnSpc>
              <a:spcBef>
                <a:spcPts val="0"/>
              </a:spcBef>
              <a:spcAft>
                <a:spcPts val="0"/>
              </a:spcAft>
              <a:buSzPts val="1200"/>
              <a:buChar char="●"/>
            </a:pPr>
            <a:r>
              <a:rPr lang="en" sz="1200"/>
              <a:t>Re-run in ODA after nav post-processing, optional batch on processed data in Mollusk</a:t>
            </a:r>
            <a:br>
              <a:rPr lang="en" sz="1200"/>
            </a:br>
            <a:endParaRPr sz="1200"/>
          </a:p>
          <a:p>
            <a:pPr indent="0" lvl="0" marL="0" rtl="0" algn="l">
              <a:lnSpc>
                <a:spcPct val="100000"/>
              </a:lnSpc>
              <a:spcBef>
                <a:spcPts val="0"/>
              </a:spcBef>
              <a:spcAft>
                <a:spcPts val="0"/>
              </a:spcAft>
              <a:buNone/>
            </a:pPr>
            <a:r>
              <a:rPr b="1" lang="en" sz="1200">
                <a:solidFill>
                  <a:srgbClr val="1AFF9D"/>
                </a:solidFill>
              </a:rPr>
              <a:t>Scope (v1)</a:t>
            </a:r>
            <a:endParaRPr b="1" sz="1200">
              <a:solidFill>
                <a:srgbClr val="1AFF9D"/>
              </a:solidFill>
            </a:endParaRPr>
          </a:p>
          <a:p>
            <a:pPr indent="-304800" lvl="0" marL="457200" rtl="0" algn="l">
              <a:lnSpc>
                <a:spcPct val="100000"/>
              </a:lnSpc>
              <a:spcBef>
                <a:spcPts val="0"/>
              </a:spcBef>
              <a:spcAft>
                <a:spcPts val="0"/>
              </a:spcAft>
              <a:buSzPts val="1200"/>
              <a:buChar char="●"/>
            </a:pPr>
            <a:r>
              <a:rPr lang="en" sz="1200"/>
              <a:t>Classes: contacts, pipelines, wrecks (extensible)</a:t>
            </a:r>
            <a:endParaRPr sz="1200"/>
          </a:p>
          <a:p>
            <a:pPr indent="-304800" lvl="0" marL="457200" rtl="0" algn="l">
              <a:lnSpc>
                <a:spcPct val="100000"/>
              </a:lnSpc>
              <a:spcBef>
                <a:spcPts val="0"/>
              </a:spcBef>
              <a:spcAft>
                <a:spcPts val="0"/>
              </a:spcAft>
              <a:buSzPts val="1200"/>
              <a:buChar char="●"/>
            </a:pPr>
            <a:r>
              <a:rPr lang="en" sz="1200"/>
              <a:t>Outputs: Lat, Lon, Class (eventually confidence, size/orientation)</a:t>
            </a:r>
            <a:endParaRPr sz="1200"/>
          </a:p>
          <a:p>
            <a:pPr indent="-304800" lvl="0" marL="457200" rtl="0" algn="l">
              <a:lnSpc>
                <a:spcPct val="100000"/>
              </a:lnSpc>
              <a:spcBef>
                <a:spcPts val="0"/>
              </a:spcBef>
              <a:spcAft>
                <a:spcPts val="0"/>
              </a:spcAft>
              <a:buSzPts val="1200"/>
              <a:buChar char="●"/>
            </a:pPr>
            <a:r>
              <a:rPr lang="en" sz="1200"/>
              <a:t>Hooks into: OBR annotation, optional acomms summary, option for retask signal to AUV nav stack</a:t>
            </a:r>
            <a:br>
              <a:rPr lang="en" sz="1200"/>
            </a:br>
            <a:endParaRPr sz="1200"/>
          </a:p>
          <a:p>
            <a:pPr indent="0" lvl="0" marL="0" rtl="0" algn="l">
              <a:lnSpc>
                <a:spcPct val="100000"/>
              </a:lnSpc>
              <a:spcBef>
                <a:spcPts val="0"/>
              </a:spcBef>
              <a:spcAft>
                <a:spcPts val="0"/>
              </a:spcAft>
              <a:buNone/>
            </a:pPr>
            <a:r>
              <a:rPr b="1" lang="en" sz="1200">
                <a:solidFill>
                  <a:srgbClr val="1AFF9D"/>
                </a:solidFill>
              </a:rPr>
              <a:t>Why now</a:t>
            </a:r>
            <a:endParaRPr b="1" sz="1200">
              <a:solidFill>
                <a:srgbClr val="1AFF9D"/>
              </a:solidFill>
            </a:endParaRPr>
          </a:p>
          <a:p>
            <a:pPr indent="-304800" lvl="0" marL="457200" rtl="0" algn="l">
              <a:lnSpc>
                <a:spcPct val="100000"/>
              </a:lnSpc>
              <a:spcBef>
                <a:spcPts val="0"/>
              </a:spcBef>
              <a:spcAft>
                <a:spcPts val="0"/>
              </a:spcAft>
              <a:buSzPts val="1200"/>
              <a:buChar char="●"/>
            </a:pPr>
            <a:r>
              <a:rPr lang="en" sz="1200"/>
              <a:t>Faster preliminary contact lists </a:t>
            </a:r>
            <a:endParaRPr sz="1200"/>
          </a:p>
          <a:p>
            <a:pPr indent="-304800" lvl="0" marL="457200" rtl="0" algn="l">
              <a:lnSpc>
                <a:spcPct val="100000"/>
              </a:lnSpc>
              <a:spcBef>
                <a:spcPts val="0"/>
              </a:spcBef>
              <a:spcAft>
                <a:spcPts val="0"/>
              </a:spcAft>
              <a:buSzPts val="1200"/>
              <a:buChar char="●"/>
            </a:pPr>
            <a:r>
              <a:rPr lang="en" sz="1200"/>
              <a:t>Consistent QC across sites, less analyst scroll time </a:t>
            </a:r>
            <a:endParaRPr sz="1200"/>
          </a:p>
          <a:p>
            <a:pPr indent="-304800" lvl="0" marL="457200" rtl="0" algn="l">
              <a:lnSpc>
                <a:spcPct val="100000"/>
              </a:lnSpc>
              <a:spcBef>
                <a:spcPts val="0"/>
              </a:spcBef>
              <a:spcAft>
                <a:spcPts val="0"/>
              </a:spcAft>
              <a:buSzPts val="1200"/>
              <a:buChar char="●"/>
            </a:pPr>
            <a:r>
              <a:rPr lang="en" sz="1200"/>
              <a:t>Stronger sales posture; OSW, O&amp;G, and Defense use cases (debris, UXO, cable exposure and scour)</a:t>
            </a:r>
            <a:endParaRPr sz="1200"/>
          </a:p>
          <a:p>
            <a:pPr indent="0" lvl="0" marL="0" rtl="0" algn="l">
              <a:lnSpc>
                <a:spcPct val="100000"/>
              </a:lnSpc>
              <a:spcBef>
                <a:spcPts val="0"/>
              </a:spcBef>
              <a:spcAft>
                <a:spcPts val="0"/>
              </a:spcAft>
              <a:buNone/>
            </a:pPr>
            <a:r>
              <a:t/>
            </a:r>
            <a:endParaRPr sz="1200"/>
          </a:p>
        </p:txBody>
      </p:sp>
      <p:sp>
        <p:nvSpPr>
          <p:cNvPr id="114" name="Google Shape;114;p24"/>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Automated SSS Target Detection (Internal proposal)</a:t>
            </a:r>
            <a:endParaRPr/>
          </a:p>
        </p:txBody>
      </p:sp>
      <p:pic>
        <p:nvPicPr>
          <p:cNvPr id="115" name="Google Shape;115;p24"/>
          <p:cNvPicPr preferRelativeResize="0"/>
          <p:nvPr/>
        </p:nvPicPr>
        <p:blipFill>
          <a:blip r:embed="rId3">
            <a:alphaModFix/>
          </a:blip>
          <a:stretch>
            <a:fillRect/>
          </a:stretch>
        </p:blipFill>
        <p:spPr>
          <a:xfrm>
            <a:off x="5071800" y="1203573"/>
            <a:ext cx="3919798" cy="3069795"/>
          </a:xfrm>
          <a:prstGeom prst="rect">
            <a:avLst/>
          </a:prstGeom>
          <a:noFill/>
          <a:ln>
            <a:noFill/>
          </a:ln>
        </p:spPr>
      </p:pic>
      <p:sp>
        <p:nvSpPr>
          <p:cNvPr id="116" name="Google Shape;116;p24"/>
          <p:cNvSpPr/>
          <p:nvPr/>
        </p:nvSpPr>
        <p:spPr>
          <a:xfrm>
            <a:off x="7059773" y="1788375"/>
            <a:ext cx="145800" cy="192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5"/>
          <p:cNvSpPr txBox="1"/>
          <p:nvPr>
            <p:ph idx="1" type="body"/>
          </p:nvPr>
        </p:nvSpPr>
        <p:spPr>
          <a:xfrm>
            <a:off x="311700" y="1022608"/>
            <a:ext cx="8520600" cy="35748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BRX Leadership approved 3 month project with CrescerAI working with Bridgit/Jess on the following milestones:</a:t>
            </a:r>
            <a:endParaRPr/>
          </a:p>
          <a:p>
            <a:pPr indent="-317500" lvl="0" marL="457200" rtl="0" algn="l">
              <a:spcBef>
                <a:spcPts val="1500"/>
              </a:spcBef>
              <a:spcAft>
                <a:spcPts val="0"/>
              </a:spcAft>
              <a:buClr>
                <a:srgbClr val="1AFF9D"/>
              </a:buClr>
              <a:buSzPts val="1400"/>
              <a:buChar char="➔"/>
            </a:pPr>
            <a:r>
              <a:rPr lang="en">
                <a:solidFill>
                  <a:srgbClr val="1AFF9D"/>
                </a:solidFill>
              </a:rPr>
              <a:t>Milestone 1: Delivery of a functional sample inference container that runs in CrescerAI’s environment and can be jointly deployed or debugged on Bedrock’s Jetson TX2 hardware, subject to Bedrock confirmation that such deliverable meets the agreed documentation and functionality requirements.</a:t>
            </a:r>
            <a:endParaRPr>
              <a:solidFill>
                <a:srgbClr val="1AFF9D"/>
              </a:solidFill>
            </a:endParaRPr>
          </a:p>
          <a:p>
            <a:pPr indent="-317500" lvl="0" marL="457200" rtl="0" algn="l">
              <a:spcBef>
                <a:spcPts val="1500"/>
              </a:spcBef>
              <a:spcAft>
                <a:spcPts val="0"/>
              </a:spcAft>
              <a:buClr>
                <a:srgbClr val="1AFF9D"/>
              </a:buClr>
              <a:buSzPts val="1400"/>
              <a:buChar char="➔"/>
            </a:pPr>
            <a:r>
              <a:rPr lang="en">
                <a:solidFill>
                  <a:srgbClr val="1AFF9D"/>
                </a:solidFill>
              </a:rPr>
              <a:t>Milestone 2 : Presentation of an interim model that demonstrates detection capability on Bedrock-provided SSS data and includes an update on training progress and preliminary metrics report.</a:t>
            </a:r>
            <a:endParaRPr>
              <a:solidFill>
                <a:srgbClr val="1AFF9D"/>
              </a:solidFill>
            </a:endParaRPr>
          </a:p>
          <a:p>
            <a:pPr indent="-317500" lvl="0" marL="457200" rtl="0" algn="l">
              <a:spcBef>
                <a:spcPts val="1500"/>
              </a:spcBef>
              <a:spcAft>
                <a:spcPts val="1500"/>
              </a:spcAft>
              <a:buSzPts val="1400"/>
              <a:buChar char="➔"/>
            </a:pPr>
            <a:r>
              <a:rPr lang="en"/>
              <a:t>Milestone 3: Delivery of the final POC model, prototype Streamlit app, and full metrics report, followed by a joint smoke test on Bedrock’s Jetson TX2.</a:t>
            </a:r>
            <a:endParaRPr/>
          </a:p>
        </p:txBody>
      </p:sp>
      <p:sp>
        <p:nvSpPr>
          <p:cNvPr id="122" name="Google Shape;122;p25"/>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R&amp;D Project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6"/>
          <p:cNvPicPr preferRelativeResize="0"/>
          <p:nvPr/>
        </p:nvPicPr>
        <p:blipFill rotWithShape="1">
          <a:blip r:embed="rId3">
            <a:alphaModFix/>
          </a:blip>
          <a:srcRect b="0" l="0" r="0" t="0"/>
          <a:stretch/>
        </p:blipFill>
        <p:spPr>
          <a:xfrm>
            <a:off x="0" y="4924800"/>
            <a:ext cx="1268396" cy="218700"/>
          </a:xfrm>
          <a:prstGeom prst="rect">
            <a:avLst/>
          </a:prstGeom>
          <a:noFill/>
          <a:ln>
            <a:noFill/>
          </a:ln>
        </p:spPr>
      </p:pic>
      <p:grpSp>
        <p:nvGrpSpPr>
          <p:cNvPr id="128" name="Google Shape;128;p26"/>
          <p:cNvGrpSpPr/>
          <p:nvPr/>
        </p:nvGrpSpPr>
        <p:grpSpPr>
          <a:xfrm>
            <a:off x="0" y="1189989"/>
            <a:ext cx="3546900" cy="3482836"/>
            <a:chOff x="0" y="1189989"/>
            <a:chExt cx="3546900" cy="3482836"/>
          </a:xfrm>
        </p:grpSpPr>
        <p:sp>
          <p:nvSpPr>
            <p:cNvPr id="129" name="Google Shape;129;p26"/>
            <p:cNvSpPr/>
            <p:nvPr/>
          </p:nvSpPr>
          <p:spPr>
            <a:xfrm>
              <a:off x="0" y="1189989"/>
              <a:ext cx="35469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Data</a:t>
              </a:r>
              <a:endParaRPr>
                <a:solidFill>
                  <a:schemeClr val="lt1"/>
                </a:solidFill>
                <a:latin typeface="Roboto"/>
                <a:ea typeface="Roboto"/>
                <a:cs typeface="Roboto"/>
                <a:sym typeface="Roboto"/>
              </a:endParaRPr>
            </a:p>
          </p:txBody>
        </p:sp>
        <p:sp>
          <p:nvSpPr>
            <p:cNvPr id="130" name="Google Shape;130;p26"/>
            <p:cNvSpPr txBox="1"/>
            <p:nvPr/>
          </p:nvSpPr>
          <p:spPr>
            <a:xfrm>
              <a:off x="612000" y="2057125"/>
              <a:ext cx="24915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Bedrock to provide Side Scan Sonar data with annotated survey and contact information and high value target classifications</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Crescer to conduct EDA, partition, augment with existing and synthetic data as needed</a:t>
              </a:r>
              <a:endParaRPr sz="1200">
                <a:solidFill>
                  <a:schemeClr val="lt1"/>
                </a:solidFill>
                <a:latin typeface="Roboto"/>
                <a:ea typeface="Roboto"/>
                <a:cs typeface="Roboto"/>
                <a:sym typeface="Robot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7"/>
          <p:cNvPicPr preferRelativeResize="0"/>
          <p:nvPr/>
        </p:nvPicPr>
        <p:blipFill rotWithShape="1">
          <a:blip r:embed="rId3">
            <a:alphaModFix/>
          </a:blip>
          <a:srcRect b="0" l="0" r="0" t="0"/>
          <a:stretch/>
        </p:blipFill>
        <p:spPr>
          <a:xfrm>
            <a:off x="0" y="4924800"/>
            <a:ext cx="1268396" cy="218700"/>
          </a:xfrm>
          <a:prstGeom prst="rect">
            <a:avLst/>
          </a:prstGeom>
          <a:noFill/>
          <a:ln>
            <a:noFill/>
          </a:ln>
        </p:spPr>
      </p:pic>
      <p:grpSp>
        <p:nvGrpSpPr>
          <p:cNvPr id="136" name="Google Shape;136;p27"/>
          <p:cNvGrpSpPr/>
          <p:nvPr/>
        </p:nvGrpSpPr>
        <p:grpSpPr>
          <a:xfrm>
            <a:off x="0" y="1189989"/>
            <a:ext cx="3546900" cy="3482836"/>
            <a:chOff x="0" y="1189989"/>
            <a:chExt cx="3546900" cy="3482836"/>
          </a:xfrm>
        </p:grpSpPr>
        <p:sp>
          <p:nvSpPr>
            <p:cNvPr id="137" name="Google Shape;137;p27"/>
            <p:cNvSpPr/>
            <p:nvPr/>
          </p:nvSpPr>
          <p:spPr>
            <a:xfrm>
              <a:off x="0" y="1189989"/>
              <a:ext cx="35469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Data</a:t>
              </a:r>
              <a:endParaRPr>
                <a:solidFill>
                  <a:schemeClr val="dk2"/>
                </a:solidFill>
                <a:latin typeface="Roboto"/>
                <a:ea typeface="Roboto"/>
                <a:cs typeface="Roboto"/>
                <a:sym typeface="Roboto"/>
              </a:endParaRPr>
            </a:p>
          </p:txBody>
        </p:sp>
        <p:sp>
          <p:nvSpPr>
            <p:cNvPr id="138" name="Google Shape;138;p27"/>
            <p:cNvSpPr txBox="1"/>
            <p:nvPr/>
          </p:nvSpPr>
          <p:spPr>
            <a:xfrm>
              <a:off x="612000" y="2057125"/>
              <a:ext cx="24915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Bedrock to provide Side Scan Sonar data with annotated survey and contact information and high value target classifications</a:t>
              </a:r>
              <a:endParaRPr sz="12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Crescer to conduct EDA, partition, augment with existing and synthetic data as needed</a:t>
              </a:r>
              <a:endParaRPr sz="1200">
                <a:solidFill>
                  <a:schemeClr val="dk2"/>
                </a:solidFill>
                <a:latin typeface="Roboto"/>
                <a:ea typeface="Roboto"/>
                <a:cs typeface="Roboto"/>
                <a:sym typeface="Roboto"/>
              </a:endParaRPr>
            </a:p>
          </p:txBody>
        </p:sp>
      </p:grpSp>
      <p:grpSp>
        <p:nvGrpSpPr>
          <p:cNvPr id="139" name="Google Shape;139;p27"/>
          <p:cNvGrpSpPr/>
          <p:nvPr/>
        </p:nvGrpSpPr>
        <p:grpSpPr>
          <a:xfrm>
            <a:off x="2944204" y="1189775"/>
            <a:ext cx="3305700" cy="3483050"/>
            <a:chOff x="2944204" y="1189775"/>
            <a:chExt cx="3305700" cy="3483050"/>
          </a:xfrm>
        </p:grpSpPr>
        <p:sp>
          <p:nvSpPr>
            <p:cNvPr id="140" name="Google Shape;140;p27"/>
            <p:cNvSpPr/>
            <p:nvPr/>
          </p:nvSpPr>
          <p:spPr>
            <a:xfrm>
              <a:off x="2944204" y="1189775"/>
              <a:ext cx="3305700" cy="669000"/>
            </a:xfrm>
            <a:prstGeom prst="chevron">
              <a:avLst>
                <a:gd fmla="val 50000" name="adj"/>
              </a:avLst>
            </a:prstGeom>
            <a:solidFill>
              <a:srgbClr val="0942A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Training</a:t>
              </a:r>
              <a:endParaRPr>
                <a:solidFill>
                  <a:schemeClr val="lt1"/>
                </a:solidFill>
                <a:latin typeface="Roboto"/>
                <a:ea typeface="Roboto"/>
                <a:cs typeface="Roboto"/>
                <a:sym typeface="Roboto"/>
              </a:endParaRPr>
            </a:p>
          </p:txBody>
        </p:sp>
        <p:sp>
          <p:nvSpPr>
            <p:cNvPr id="141" name="Google Shape;141;p27"/>
            <p:cNvSpPr txBox="1"/>
            <p:nvPr/>
          </p:nvSpPr>
          <p:spPr>
            <a:xfrm>
              <a:off x="3478949"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Crescer to train Lumen object detection </a:t>
              </a:r>
              <a:r>
                <a:rPr lang="en" sz="1200">
                  <a:solidFill>
                    <a:schemeClr val="lt1"/>
                  </a:solidFill>
                  <a:latin typeface="Roboto"/>
                  <a:ea typeface="Roboto"/>
                  <a:cs typeface="Roboto"/>
                  <a:sym typeface="Roboto"/>
                </a:rPr>
                <a:t>models on curated datasets</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Optimize for lightweight onboard deployment</a:t>
              </a:r>
              <a:endParaRPr sz="1200">
                <a:solidFill>
                  <a:schemeClr val="lt1"/>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8"/>
          <p:cNvPicPr preferRelativeResize="0"/>
          <p:nvPr/>
        </p:nvPicPr>
        <p:blipFill rotWithShape="1">
          <a:blip r:embed="rId3">
            <a:alphaModFix/>
          </a:blip>
          <a:srcRect b="0" l="0" r="0" t="0"/>
          <a:stretch/>
        </p:blipFill>
        <p:spPr>
          <a:xfrm>
            <a:off x="0" y="4924800"/>
            <a:ext cx="1268396" cy="218700"/>
          </a:xfrm>
          <a:prstGeom prst="rect">
            <a:avLst/>
          </a:prstGeom>
          <a:noFill/>
          <a:ln>
            <a:noFill/>
          </a:ln>
        </p:spPr>
      </p:pic>
      <p:grpSp>
        <p:nvGrpSpPr>
          <p:cNvPr id="147" name="Google Shape;147;p28"/>
          <p:cNvGrpSpPr/>
          <p:nvPr/>
        </p:nvGrpSpPr>
        <p:grpSpPr>
          <a:xfrm>
            <a:off x="5632317" y="1189775"/>
            <a:ext cx="3305700" cy="3483050"/>
            <a:chOff x="5632317" y="1189775"/>
            <a:chExt cx="3305700" cy="3483050"/>
          </a:xfrm>
        </p:grpSpPr>
        <p:sp>
          <p:nvSpPr>
            <p:cNvPr id="148" name="Google Shape;148;p28"/>
            <p:cNvSpPr/>
            <p:nvPr/>
          </p:nvSpPr>
          <p:spPr>
            <a:xfrm>
              <a:off x="5632317" y="1189775"/>
              <a:ext cx="3305700" cy="669000"/>
            </a:xfrm>
            <a:prstGeom prst="chevron">
              <a:avLst>
                <a:gd fmla="val 50000" name="adj"/>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Evaluation</a:t>
              </a:r>
              <a:endParaRPr>
                <a:solidFill>
                  <a:schemeClr val="lt1"/>
                </a:solidFill>
                <a:latin typeface="Roboto"/>
                <a:ea typeface="Roboto"/>
                <a:cs typeface="Roboto"/>
                <a:sym typeface="Roboto"/>
              </a:endParaRPr>
            </a:p>
          </p:txBody>
        </p:sp>
        <p:sp>
          <p:nvSpPr>
            <p:cNvPr id="149" name="Google Shape;149;p28"/>
            <p:cNvSpPr txBox="1"/>
            <p:nvPr/>
          </p:nvSpPr>
          <p:spPr>
            <a:xfrm>
              <a:off x="5940000" y="2057125"/>
              <a:ext cx="26784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Additional ablation testing to optimize model performance</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Establish metrics on held-out data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Identify areas of improvement with additional (real or synthetic) data</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Demo to stakeholders with defined integration and deployment pathway</a:t>
              </a:r>
              <a:endParaRPr sz="1200">
                <a:solidFill>
                  <a:schemeClr val="lt1"/>
                </a:solidFill>
                <a:latin typeface="Roboto"/>
                <a:ea typeface="Roboto"/>
                <a:cs typeface="Roboto"/>
                <a:sym typeface="Roboto"/>
              </a:endParaRPr>
            </a:p>
          </p:txBody>
        </p:sp>
      </p:grpSp>
      <p:grpSp>
        <p:nvGrpSpPr>
          <p:cNvPr id="150" name="Google Shape;150;p28"/>
          <p:cNvGrpSpPr/>
          <p:nvPr/>
        </p:nvGrpSpPr>
        <p:grpSpPr>
          <a:xfrm>
            <a:off x="0" y="1189989"/>
            <a:ext cx="3546900" cy="3482836"/>
            <a:chOff x="0" y="1189989"/>
            <a:chExt cx="3546900" cy="3482836"/>
          </a:xfrm>
        </p:grpSpPr>
        <p:sp>
          <p:nvSpPr>
            <p:cNvPr id="151" name="Google Shape;151;p28"/>
            <p:cNvSpPr/>
            <p:nvPr/>
          </p:nvSpPr>
          <p:spPr>
            <a:xfrm>
              <a:off x="0" y="1189989"/>
              <a:ext cx="3546900" cy="669000"/>
            </a:xfrm>
            <a:prstGeom prst="homePlate">
              <a:avLst>
                <a:gd fmla="val 50000" name="adj"/>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Data</a:t>
              </a:r>
              <a:endParaRPr>
                <a:solidFill>
                  <a:schemeClr val="dk2"/>
                </a:solidFill>
                <a:latin typeface="Roboto"/>
                <a:ea typeface="Roboto"/>
                <a:cs typeface="Roboto"/>
                <a:sym typeface="Roboto"/>
              </a:endParaRPr>
            </a:p>
          </p:txBody>
        </p:sp>
        <p:sp>
          <p:nvSpPr>
            <p:cNvPr id="152" name="Google Shape;152;p28"/>
            <p:cNvSpPr txBox="1"/>
            <p:nvPr/>
          </p:nvSpPr>
          <p:spPr>
            <a:xfrm>
              <a:off x="612000" y="2057125"/>
              <a:ext cx="24915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Bedrock to provide Side Scan Sonar data with annotated survey and contact information and high value target classifications</a:t>
              </a:r>
              <a:endParaRPr sz="12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Crescer to conduct EDA, partition, augment with existing and synthetic data as needed</a:t>
              </a:r>
              <a:endParaRPr sz="1200">
                <a:solidFill>
                  <a:schemeClr val="dk2"/>
                </a:solidFill>
                <a:latin typeface="Roboto"/>
                <a:ea typeface="Roboto"/>
                <a:cs typeface="Roboto"/>
                <a:sym typeface="Roboto"/>
              </a:endParaRPr>
            </a:p>
          </p:txBody>
        </p:sp>
      </p:grpSp>
      <p:grpSp>
        <p:nvGrpSpPr>
          <p:cNvPr id="153" name="Google Shape;153;p28"/>
          <p:cNvGrpSpPr/>
          <p:nvPr/>
        </p:nvGrpSpPr>
        <p:grpSpPr>
          <a:xfrm>
            <a:off x="2944204" y="1189775"/>
            <a:ext cx="3305700" cy="3483050"/>
            <a:chOff x="2944204" y="1189775"/>
            <a:chExt cx="3305700" cy="3483050"/>
          </a:xfrm>
        </p:grpSpPr>
        <p:sp>
          <p:nvSpPr>
            <p:cNvPr id="154" name="Google Shape;154;p28"/>
            <p:cNvSpPr/>
            <p:nvPr/>
          </p:nvSpPr>
          <p:spPr>
            <a:xfrm>
              <a:off x="2944204" y="1189775"/>
              <a:ext cx="3305700" cy="669000"/>
            </a:xfrm>
            <a:prstGeom prst="chevron">
              <a:avLst>
                <a:gd fmla="val 50000" name="adj"/>
              </a:avLst>
            </a:prstGeom>
            <a:solidFill>
              <a:srgbClr val="0942A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Training</a:t>
              </a:r>
              <a:endParaRPr>
                <a:solidFill>
                  <a:schemeClr val="dk2"/>
                </a:solidFill>
                <a:latin typeface="Roboto"/>
                <a:ea typeface="Roboto"/>
                <a:cs typeface="Roboto"/>
                <a:sym typeface="Roboto"/>
              </a:endParaRPr>
            </a:p>
          </p:txBody>
        </p:sp>
        <p:sp>
          <p:nvSpPr>
            <p:cNvPr id="155" name="Google Shape;155;p28"/>
            <p:cNvSpPr txBox="1"/>
            <p:nvPr/>
          </p:nvSpPr>
          <p:spPr>
            <a:xfrm>
              <a:off x="3478949" y="2057125"/>
              <a:ext cx="2236200" cy="261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Crescer to train Lumen object detection </a:t>
              </a:r>
              <a:r>
                <a:rPr lang="en" sz="1200">
                  <a:solidFill>
                    <a:schemeClr val="dk2"/>
                  </a:solidFill>
                  <a:latin typeface="Roboto"/>
                  <a:ea typeface="Roboto"/>
                  <a:cs typeface="Roboto"/>
                  <a:sym typeface="Roboto"/>
                </a:rPr>
                <a:t>models on curated datasets</a:t>
              </a:r>
              <a:endParaRPr sz="12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dk2"/>
                </a:solidFill>
                <a:latin typeface="Roboto"/>
                <a:ea typeface="Roboto"/>
                <a:cs typeface="Roboto"/>
                <a:sym typeface="Roboto"/>
              </a:endParaRPr>
            </a:p>
            <a:p>
              <a:pPr indent="-304800" lvl="0" marL="457200" rtl="0" algn="l">
                <a:lnSpc>
                  <a:spcPct val="115000"/>
                </a:lnSpc>
                <a:spcBef>
                  <a:spcPts val="0"/>
                </a:spcBef>
                <a:spcAft>
                  <a:spcPts val="0"/>
                </a:spcAft>
                <a:buClr>
                  <a:schemeClr val="dk2"/>
                </a:buClr>
                <a:buSzPts val="1200"/>
                <a:buFont typeface="Roboto"/>
                <a:buChar char="●"/>
              </a:pPr>
              <a:r>
                <a:rPr lang="en" sz="1200">
                  <a:solidFill>
                    <a:schemeClr val="dk2"/>
                  </a:solidFill>
                  <a:latin typeface="Roboto"/>
                  <a:ea typeface="Roboto"/>
                  <a:cs typeface="Roboto"/>
                  <a:sym typeface="Roboto"/>
                </a:rPr>
                <a:t>Optimize for lightweight onboard deployment</a:t>
              </a:r>
              <a:endParaRPr sz="1200">
                <a:solidFill>
                  <a:schemeClr val="dk2"/>
                </a:solidFill>
                <a:latin typeface="Roboto"/>
                <a:ea typeface="Roboto"/>
                <a:cs typeface="Roboto"/>
                <a:sym typeface="Robo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78475"/>
            <a:ext cx="81933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Detect targets in 3 min swath</a:t>
            </a:r>
            <a:r>
              <a:rPr lang="en"/>
              <a:t> in &lt;1 sec </a:t>
            </a:r>
            <a:r>
              <a:rPr lang="en" sz="1600"/>
              <a:t>(Jetson Nano)</a:t>
            </a:r>
            <a:endParaRPr sz="1600"/>
          </a:p>
          <a:p>
            <a:pPr indent="0" lvl="0" marL="0" rtl="0" algn="l">
              <a:spcBef>
                <a:spcPts val="0"/>
              </a:spcBef>
              <a:spcAft>
                <a:spcPts val="0"/>
              </a:spcAft>
              <a:buNone/>
            </a:pPr>
            <a:r>
              <a:t/>
            </a:r>
            <a:endParaRPr/>
          </a:p>
        </p:txBody>
      </p:sp>
      <p:grpSp>
        <p:nvGrpSpPr>
          <p:cNvPr id="161" name="Google Shape;161;p29"/>
          <p:cNvGrpSpPr/>
          <p:nvPr/>
        </p:nvGrpSpPr>
        <p:grpSpPr>
          <a:xfrm>
            <a:off x="311692" y="2301359"/>
            <a:ext cx="465275" cy="534854"/>
            <a:chOff x="7324305" y="1189849"/>
            <a:chExt cx="465275" cy="534854"/>
          </a:xfrm>
        </p:grpSpPr>
        <p:sp>
          <p:nvSpPr>
            <p:cNvPr id="162" name="Google Shape;162;p29"/>
            <p:cNvSpPr/>
            <p:nvPr/>
          </p:nvSpPr>
          <p:spPr>
            <a:xfrm>
              <a:off x="7324305" y="1308411"/>
              <a:ext cx="121800" cy="121800"/>
            </a:xfrm>
            <a:prstGeom prst="ellipse">
              <a:avLst/>
            </a:prstGeom>
            <a:solidFill>
              <a:srgbClr val="00FF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highlight>
                  <a:srgbClr val="000000"/>
                </a:highlight>
                <a:latin typeface="Poppins"/>
                <a:ea typeface="Poppins"/>
                <a:cs typeface="Poppins"/>
                <a:sym typeface="Poppins"/>
              </a:endParaRPr>
            </a:p>
          </p:txBody>
        </p:sp>
        <p:sp>
          <p:nvSpPr>
            <p:cNvPr id="163" name="Google Shape;163;p29"/>
            <p:cNvSpPr/>
            <p:nvPr/>
          </p:nvSpPr>
          <p:spPr>
            <a:xfrm>
              <a:off x="7324305" y="1455650"/>
              <a:ext cx="121800" cy="121800"/>
            </a:xfrm>
            <a:prstGeom prst="ellipse">
              <a:avLst/>
            </a:prstGeom>
            <a:solidFill>
              <a:srgbClr val="0000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highlight>
                  <a:srgbClr val="000000"/>
                </a:highlight>
                <a:latin typeface="Poppins"/>
                <a:ea typeface="Poppins"/>
                <a:cs typeface="Poppins"/>
                <a:sym typeface="Poppins"/>
              </a:endParaRPr>
            </a:p>
          </p:txBody>
        </p:sp>
        <p:sp>
          <p:nvSpPr>
            <p:cNvPr id="164" name="Google Shape;164;p29"/>
            <p:cNvSpPr txBox="1"/>
            <p:nvPr/>
          </p:nvSpPr>
          <p:spPr>
            <a:xfrm>
              <a:off x="7417279" y="1189849"/>
              <a:ext cx="372300" cy="1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T</a:t>
              </a:r>
              <a:r>
                <a:rPr lang="en" sz="1000">
                  <a:solidFill>
                    <a:schemeClr val="lt1"/>
                  </a:solidFill>
                  <a:latin typeface="Poppins"/>
                  <a:ea typeface="Poppins"/>
                  <a:cs typeface="Poppins"/>
                  <a:sym typeface="Poppins"/>
                </a:rPr>
                <a:t>P</a:t>
              </a:r>
              <a:endParaRPr sz="1000">
                <a:solidFill>
                  <a:schemeClr val="lt1"/>
                </a:solidFill>
                <a:latin typeface="Poppins"/>
                <a:ea typeface="Poppins"/>
                <a:cs typeface="Poppins"/>
                <a:sym typeface="Poppins"/>
              </a:endParaRPr>
            </a:p>
          </p:txBody>
        </p:sp>
        <p:sp>
          <p:nvSpPr>
            <p:cNvPr id="165" name="Google Shape;165;p29"/>
            <p:cNvSpPr txBox="1"/>
            <p:nvPr/>
          </p:nvSpPr>
          <p:spPr>
            <a:xfrm>
              <a:off x="7410520" y="1372525"/>
              <a:ext cx="375900" cy="1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FP</a:t>
              </a:r>
              <a:endParaRPr sz="1000">
                <a:solidFill>
                  <a:schemeClr val="lt1"/>
                </a:solidFill>
                <a:latin typeface="Poppins"/>
                <a:ea typeface="Poppins"/>
                <a:cs typeface="Poppins"/>
                <a:sym typeface="Poppins"/>
              </a:endParaRPr>
            </a:p>
          </p:txBody>
        </p:sp>
        <p:sp>
          <p:nvSpPr>
            <p:cNvPr id="166" name="Google Shape;166;p29"/>
            <p:cNvSpPr/>
            <p:nvPr/>
          </p:nvSpPr>
          <p:spPr>
            <a:xfrm>
              <a:off x="7324305" y="1602903"/>
              <a:ext cx="121800" cy="121800"/>
            </a:xfrm>
            <a:prstGeom prst="ellipse">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highlight>
                  <a:srgbClr val="000000"/>
                </a:highlight>
                <a:latin typeface="Poppins"/>
                <a:ea typeface="Poppins"/>
                <a:cs typeface="Poppins"/>
                <a:sym typeface="Poppins"/>
              </a:endParaRPr>
            </a:p>
          </p:txBody>
        </p:sp>
        <p:sp>
          <p:nvSpPr>
            <p:cNvPr id="167" name="Google Shape;167;p29"/>
            <p:cNvSpPr txBox="1"/>
            <p:nvPr/>
          </p:nvSpPr>
          <p:spPr>
            <a:xfrm>
              <a:off x="7414025" y="1531701"/>
              <a:ext cx="372300" cy="1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Poppins"/>
                  <a:ea typeface="Poppins"/>
                  <a:cs typeface="Poppins"/>
                  <a:sym typeface="Poppins"/>
                </a:rPr>
                <a:t>FN</a:t>
              </a:r>
              <a:endParaRPr sz="1000">
                <a:solidFill>
                  <a:schemeClr val="lt1"/>
                </a:solidFill>
                <a:latin typeface="Poppins"/>
                <a:ea typeface="Poppins"/>
                <a:cs typeface="Poppins"/>
                <a:sym typeface="Poppins"/>
              </a:endParaRPr>
            </a:p>
          </p:txBody>
        </p:sp>
      </p:grpSp>
      <p:pic>
        <p:nvPicPr>
          <p:cNvPr id="168" name="Google Shape;168;p29"/>
          <p:cNvPicPr preferRelativeResize="0"/>
          <p:nvPr/>
        </p:nvPicPr>
        <p:blipFill>
          <a:blip r:embed="rId3">
            <a:alphaModFix/>
          </a:blip>
          <a:stretch>
            <a:fillRect/>
          </a:stretch>
        </p:blipFill>
        <p:spPr>
          <a:xfrm>
            <a:off x="3599675" y="1872635"/>
            <a:ext cx="2234475" cy="1627100"/>
          </a:xfrm>
          <a:prstGeom prst="rect">
            <a:avLst/>
          </a:prstGeom>
          <a:noFill/>
          <a:ln cap="flat" cmpd="sng" w="9525">
            <a:solidFill>
              <a:schemeClr val="dk2"/>
            </a:solidFill>
            <a:prstDash val="solid"/>
            <a:round/>
            <a:headEnd len="sm" w="sm" type="none"/>
            <a:tailEnd len="sm" w="sm" type="none"/>
          </a:ln>
        </p:spPr>
      </p:pic>
      <p:pic>
        <p:nvPicPr>
          <p:cNvPr id="169" name="Google Shape;169;p29"/>
          <p:cNvPicPr preferRelativeResize="0"/>
          <p:nvPr/>
        </p:nvPicPr>
        <p:blipFill>
          <a:blip r:embed="rId4">
            <a:alphaModFix/>
          </a:blip>
          <a:stretch>
            <a:fillRect/>
          </a:stretch>
        </p:blipFill>
        <p:spPr>
          <a:xfrm>
            <a:off x="6208950" y="1872635"/>
            <a:ext cx="2450369" cy="1627100"/>
          </a:xfrm>
          <a:prstGeom prst="rect">
            <a:avLst/>
          </a:prstGeom>
          <a:noFill/>
          <a:ln cap="flat" cmpd="sng" w="9525">
            <a:solidFill>
              <a:schemeClr val="dk2"/>
            </a:solidFill>
            <a:prstDash val="solid"/>
            <a:round/>
            <a:headEnd len="sm" w="sm" type="none"/>
            <a:tailEnd len="sm" w="sm" type="none"/>
          </a:ln>
        </p:spPr>
      </p:pic>
      <p:sp>
        <p:nvSpPr>
          <p:cNvPr id="170" name="Google Shape;170;p29"/>
          <p:cNvSpPr txBox="1"/>
          <p:nvPr/>
        </p:nvSpPr>
        <p:spPr>
          <a:xfrm>
            <a:off x="906075" y="3668523"/>
            <a:ext cx="7191600" cy="12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FFFFFF"/>
                </a:solidFill>
                <a:latin typeface="Poppins"/>
                <a:ea typeface="Poppins"/>
                <a:cs typeface="Poppins"/>
                <a:sym typeface="Poppins"/>
              </a:rPr>
              <a:t>Test yourselves!</a:t>
            </a:r>
            <a:endParaRPr sz="17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700">
              <a:solidFill>
                <a:srgbClr val="FFFFFF"/>
              </a:solidFill>
              <a:latin typeface="Poppins"/>
              <a:ea typeface="Poppins"/>
              <a:cs typeface="Poppins"/>
              <a:sym typeface="Poppins"/>
            </a:endParaRPr>
          </a:p>
          <a:p>
            <a:pPr indent="0" lvl="0" marL="0" rtl="0" algn="l">
              <a:spcBef>
                <a:spcPts val="0"/>
              </a:spcBef>
              <a:spcAft>
                <a:spcPts val="0"/>
              </a:spcAft>
              <a:buNone/>
            </a:pPr>
            <a:r>
              <a:rPr lang="en" sz="1700">
                <a:solidFill>
                  <a:srgbClr val="FFFFFF"/>
                </a:solidFill>
                <a:latin typeface="Poppins"/>
                <a:ea typeface="Poppins"/>
                <a:cs typeface="Poppins"/>
                <a:sym typeface="Poppins"/>
              </a:rPr>
              <a:t>Run the app here: </a:t>
            </a:r>
            <a:r>
              <a:rPr lang="en" sz="1700" u="sng">
                <a:solidFill>
                  <a:schemeClr val="accent6"/>
                </a:solidFill>
                <a:latin typeface="Poppins"/>
                <a:ea typeface="Poppins"/>
                <a:cs typeface="Poppins"/>
                <a:sym typeface="Poppins"/>
                <a:hlinkClick r:id="rId5">
                  <a:extLst>
                    <a:ext uri="{A12FA001-AC4F-418D-AE19-62706E023703}">
                      <ahyp:hlinkClr val="tx"/>
                    </a:ext>
                  </a:extLst>
                </a:hlinkClick>
              </a:rPr>
              <a:t>http://brx-model-viewer.crescer.ai/</a:t>
            </a:r>
            <a:endParaRPr sz="1700">
              <a:solidFill>
                <a:schemeClr val="accent6"/>
              </a:solidFill>
              <a:latin typeface="Poppins"/>
              <a:ea typeface="Poppins"/>
              <a:cs typeface="Poppins"/>
              <a:sym typeface="Poppins"/>
            </a:endParaRPr>
          </a:p>
        </p:txBody>
      </p:sp>
      <p:pic>
        <p:nvPicPr>
          <p:cNvPr id="171" name="Google Shape;171;p29"/>
          <p:cNvPicPr preferRelativeResize="0"/>
          <p:nvPr/>
        </p:nvPicPr>
        <p:blipFill rotWithShape="1">
          <a:blip r:embed="rId6">
            <a:alphaModFix/>
          </a:blip>
          <a:srcRect b="3600" l="12321" r="11575" t="3377"/>
          <a:stretch/>
        </p:blipFill>
        <p:spPr>
          <a:xfrm>
            <a:off x="7195000" y="983925"/>
            <a:ext cx="961650" cy="660901"/>
          </a:xfrm>
          <a:prstGeom prst="rect">
            <a:avLst/>
          </a:prstGeom>
          <a:noFill/>
          <a:ln>
            <a:noFill/>
          </a:ln>
        </p:spPr>
      </p:pic>
      <p:pic>
        <p:nvPicPr>
          <p:cNvPr id="172" name="Google Shape;172;p29"/>
          <p:cNvPicPr preferRelativeResize="0"/>
          <p:nvPr/>
        </p:nvPicPr>
        <p:blipFill>
          <a:blip r:embed="rId7">
            <a:alphaModFix/>
          </a:blip>
          <a:stretch>
            <a:fillRect/>
          </a:stretch>
        </p:blipFill>
        <p:spPr>
          <a:xfrm>
            <a:off x="940542" y="1872099"/>
            <a:ext cx="2495550" cy="1609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Good Metrics → Future tuning tradeoffs</a:t>
            </a:r>
            <a:endParaRPr/>
          </a:p>
        </p:txBody>
      </p:sp>
      <p:graphicFrame>
        <p:nvGraphicFramePr>
          <p:cNvPr id="178" name="Google Shape;178;p30"/>
          <p:cNvGraphicFramePr/>
          <p:nvPr/>
        </p:nvGraphicFramePr>
        <p:xfrm>
          <a:off x="805275" y="1201350"/>
          <a:ext cx="3000000" cy="3000000"/>
        </p:xfrm>
        <a:graphic>
          <a:graphicData uri="http://schemas.openxmlformats.org/drawingml/2006/table">
            <a:tbl>
              <a:tblPr>
                <a:noFill/>
                <a:tableStyleId>{11B6EAEC-40BE-42D4-865E-5E91C0DFF9E2}</a:tableStyleId>
              </a:tblPr>
              <a:tblGrid>
                <a:gridCol w="2304050"/>
                <a:gridCol w="1407250"/>
                <a:gridCol w="1061525"/>
                <a:gridCol w="1061525"/>
                <a:gridCol w="1061525"/>
                <a:gridCol w="1061525"/>
              </a:tblGrid>
              <a:tr h="381000">
                <a:tc>
                  <a:txBody>
                    <a:bodyPr/>
                    <a:lstStyle/>
                    <a:p>
                      <a:pPr indent="0" lvl="0" marL="0" rtl="0" algn="ctr">
                        <a:lnSpc>
                          <a:spcPct val="115000"/>
                        </a:lnSpc>
                        <a:spcBef>
                          <a:spcPts val="0"/>
                        </a:spcBef>
                        <a:spcAft>
                          <a:spcPts val="0"/>
                        </a:spcAft>
                        <a:buNone/>
                      </a:pPr>
                      <a:r>
                        <a:rPr lang="en">
                          <a:solidFill>
                            <a:schemeClr val="dk1"/>
                          </a:solidFill>
                        </a:rPr>
                        <a:t>Model Tuning</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
                          <a:solidFill>
                            <a:schemeClr val="dk1"/>
                          </a:solidFill>
                        </a:rPr>
                        <a:t>TP</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
                          <a:solidFill>
                            <a:schemeClr val="dk1"/>
                          </a:solidFill>
                        </a:rPr>
                        <a:t>FN</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dk1"/>
                          </a:solidFill>
                        </a:rPr>
                        <a:t>Recall</a:t>
                      </a:r>
                      <a:endParaRPr b="1">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
                          <a:solidFill>
                            <a:schemeClr val="dk1"/>
                          </a:solidFill>
                        </a:rPr>
                        <a:t>Precision</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
                          <a:solidFill>
                            <a:schemeClr val="dk1"/>
                          </a:solidFill>
                        </a:rPr>
                        <a:t>F1 Score</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r>
              <a:tr h="381000">
                <a:tc>
                  <a:txBody>
                    <a:bodyPr/>
                    <a:lstStyle/>
                    <a:p>
                      <a:pPr indent="0" lvl="0" marL="0" rtl="0" algn="ctr">
                        <a:lnSpc>
                          <a:spcPct val="115000"/>
                        </a:lnSpc>
                        <a:spcBef>
                          <a:spcPts val="0"/>
                        </a:spcBef>
                        <a:spcAft>
                          <a:spcPts val="0"/>
                        </a:spcAft>
                        <a:buNone/>
                      </a:pPr>
                      <a:r>
                        <a:rPr lang="en">
                          <a:solidFill>
                            <a:schemeClr val="lt1"/>
                          </a:solidFill>
                        </a:rPr>
                        <a:t>Baseline</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lang="en">
                          <a:solidFill>
                            <a:schemeClr val="lt1"/>
                          </a:solidFill>
                        </a:rPr>
                        <a:t>212</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41</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0.84</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63F0"/>
                    </a:solidFill>
                  </a:tcPr>
                </a:tc>
                <a:tc>
                  <a:txBody>
                    <a:bodyPr/>
                    <a:lstStyle/>
                    <a:p>
                      <a:pPr indent="0" lvl="0" marL="0" rtl="0" algn="ctr">
                        <a:lnSpc>
                          <a:spcPct val="115000"/>
                        </a:lnSpc>
                        <a:spcBef>
                          <a:spcPts val="0"/>
                        </a:spcBef>
                        <a:spcAft>
                          <a:spcPts val="0"/>
                        </a:spcAft>
                        <a:buNone/>
                      </a:pPr>
                      <a:r>
                        <a:rPr lang="en">
                          <a:solidFill>
                            <a:schemeClr val="lt1"/>
                          </a:solidFill>
                        </a:rPr>
                        <a:t>0.59</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0.69</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317500" lvl="0" marL="457200" rtl="0" algn="ctr">
                        <a:lnSpc>
                          <a:spcPct val="115000"/>
                        </a:lnSpc>
                        <a:spcBef>
                          <a:spcPts val="0"/>
                        </a:spcBef>
                        <a:spcAft>
                          <a:spcPts val="0"/>
                        </a:spcAft>
                        <a:buClr>
                          <a:schemeClr val="lt1"/>
                        </a:buClr>
                        <a:buSzPts val="1400"/>
                        <a:buChar char="+"/>
                      </a:pPr>
                      <a:r>
                        <a:rPr lang="en">
                          <a:solidFill>
                            <a:schemeClr val="lt1"/>
                          </a:solidFill>
                        </a:rPr>
                        <a:t>Augmentations</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lang="en">
                          <a:solidFill>
                            <a:schemeClr val="lt1"/>
                          </a:solidFill>
                        </a:rPr>
                        <a:t>215</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38</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0.85</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63F0"/>
                    </a:solidFill>
                  </a:tcPr>
                </a:tc>
                <a:tc>
                  <a:txBody>
                    <a:bodyPr/>
                    <a:lstStyle/>
                    <a:p>
                      <a:pPr indent="0" lvl="0" marL="0" rtl="0" algn="ctr">
                        <a:lnSpc>
                          <a:spcPct val="115000"/>
                        </a:lnSpc>
                        <a:spcBef>
                          <a:spcPts val="0"/>
                        </a:spcBef>
                        <a:spcAft>
                          <a:spcPts val="0"/>
                        </a:spcAft>
                        <a:buNone/>
                      </a:pPr>
                      <a:r>
                        <a:rPr lang="en">
                          <a:solidFill>
                            <a:schemeClr val="lt1"/>
                          </a:solidFill>
                        </a:rPr>
                        <a:t>0.53</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0.65</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317500" lvl="0" marL="457200" rtl="0" algn="ctr">
                        <a:lnSpc>
                          <a:spcPct val="115000"/>
                        </a:lnSpc>
                        <a:spcBef>
                          <a:spcPts val="0"/>
                        </a:spcBef>
                        <a:spcAft>
                          <a:spcPts val="0"/>
                        </a:spcAft>
                        <a:buClr>
                          <a:schemeClr val="lt1"/>
                        </a:buClr>
                        <a:buSzPts val="1400"/>
                        <a:buChar char="+"/>
                      </a:pPr>
                      <a:r>
                        <a:rPr lang="en">
                          <a:solidFill>
                            <a:schemeClr val="lt1"/>
                          </a:solidFill>
                        </a:rPr>
                        <a:t>Small Object Filtering</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lang="en">
                          <a:solidFill>
                            <a:schemeClr val="lt1"/>
                          </a:solidFill>
                        </a:rPr>
                        <a:t>203</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50</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0.80</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63F0"/>
                    </a:solidFill>
                  </a:tcPr>
                </a:tc>
                <a:tc>
                  <a:txBody>
                    <a:bodyPr/>
                    <a:lstStyle/>
                    <a:p>
                      <a:pPr indent="0" lvl="0" marL="0" rtl="0" algn="ctr">
                        <a:lnSpc>
                          <a:spcPct val="115000"/>
                        </a:lnSpc>
                        <a:spcBef>
                          <a:spcPts val="0"/>
                        </a:spcBef>
                        <a:spcAft>
                          <a:spcPts val="0"/>
                        </a:spcAft>
                        <a:buNone/>
                      </a:pPr>
                      <a:r>
                        <a:rPr lang="en">
                          <a:solidFill>
                            <a:schemeClr val="lt1"/>
                          </a:solidFill>
                        </a:rPr>
                        <a:t>0.67</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0.73</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79" name="Google Shape;179;p30"/>
          <p:cNvSpPr txBox="1"/>
          <p:nvPr/>
        </p:nvSpPr>
        <p:spPr>
          <a:xfrm rot="-5400000">
            <a:off x="-307750" y="1715850"/>
            <a:ext cx="14925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FFFFF"/>
                </a:solidFill>
                <a:latin typeface="Poppins"/>
                <a:ea typeface="Poppins"/>
                <a:cs typeface="Poppins"/>
                <a:sym typeface="Poppins"/>
              </a:rPr>
              <a:t>Model</a:t>
            </a:r>
            <a:endParaRPr sz="1700">
              <a:solidFill>
                <a:srgbClr val="FFFFFF"/>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Good Metrics → Future tuning tradeoffs</a:t>
            </a:r>
            <a:endParaRPr/>
          </a:p>
        </p:txBody>
      </p:sp>
      <p:graphicFrame>
        <p:nvGraphicFramePr>
          <p:cNvPr id="185" name="Google Shape;185;p31"/>
          <p:cNvGraphicFramePr/>
          <p:nvPr/>
        </p:nvGraphicFramePr>
        <p:xfrm>
          <a:off x="805275" y="1201350"/>
          <a:ext cx="3000000" cy="3000000"/>
        </p:xfrm>
        <a:graphic>
          <a:graphicData uri="http://schemas.openxmlformats.org/drawingml/2006/table">
            <a:tbl>
              <a:tblPr>
                <a:noFill/>
                <a:tableStyleId>{11B6EAEC-40BE-42D4-865E-5E91C0DFF9E2}</a:tableStyleId>
              </a:tblPr>
              <a:tblGrid>
                <a:gridCol w="2304050"/>
                <a:gridCol w="1407250"/>
                <a:gridCol w="1061525"/>
                <a:gridCol w="1061525"/>
                <a:gridCol w="1061525"/>
                <a:gridCol w="1061525"/>
              </a:tblGrid>
              <a:tr h="381000">
                <a:tc>
                  <a:txBody>
                    <a:bodyPr/>
                    <a:lstStyle/>
                    <a:p>
                      <a:pPr indent="0" lvl="0" marL="0" rtl="0" algn="ctr">
                        <a:lnSpc>
                          <a:spcPct val="115000"/>
                        </a:lnSpc>
                        <a:spcBef>
                          <a:spcPts val="0"/>
                        </a:spcBef>
                        <a:spcAft>
                          <a:spcPts val="0"/>
                        </a:spcAft>
                        <a:buNone/>
                      </a:pPr>
                      <a:r>
                        <a:rPr lang="en">
                          <a:solidFill>
                            <a:schemeClr val="dk1"/>
                          </a:solidFill>
                        </a:rPr>
                        <a:t>Model Tuning</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
                          <a:solidFill>
                            <a:schemeClr val="dk1"/>
                          </a:solidFill>
                        </a:rPr>
                        <a:t>TP</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
                          <a:solidFill>
                            <a:schemeClr val="dk1"/>
                          </a:solidFill>
                        </a:rPr>
                        <a:t>FN</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a:solidFill>
                            <a:schemeClr val="dk1"/>
                          </a:solidFill>
                        </a:rPr>
                        <a:t>Recall</a:t>
                      </a:r>
                      <a:endParaRPr b="1">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
                          <a:solidFill>
                            <a:schemeClr val="dk1"/>
                          </a:solidFill>
                        </a:rPr>
                        <a:t>Precision</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
                          <a:solidFill>
                            <a:schemeClr val="dk1"/>
                          </a:solidFill>
                        </a:rPr>
                        <a:t>F1 Score</a:t>
                      </a:r>
                      <a:endParaRPr>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lt2"/>
                    </a:solidFill>
                  </a:tcPr>
                </a:tc>
              </a:tr>
              <a:tr h="381000">
                <a:tc>
                  <a:txBody>
                    <a:bodyPr/>
                    <a:lstStyle/>
                    <a:p>
                      <a:pPr indent="0" lvl="0" marL="0" rtl="0" algn="ctr">
                        <a:lnSpc>
                          <a:spcPct val="115000"/>
                        </a:lnSpc>
                        <a:spcBef>
                          <a:spcPts val="0"/>
                        </a:spcBef>
                        <a:spcAft>
                          <a:spcPts val="0"/>
                        </a:spcAft>
                        <a:buNone/>
                      </a:pPr>
                      <a:r>
                        <a:rPr lang="en">
                          <a:solidFill>
                            <a:schemeClr val="lt1"/>
                          </a:solidFill>
                        </a:rPr>
                        <a:t>Baseline</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lang="en">
                          <a:solidFill>
                            <a:schemeClr val="lt1"/>
                          </a:solidFill>
                        </a:rPr>
                        <a:t>212</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41</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0.84</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63F0"/>
                    </a:solidFill>
                  </a:tcPr>
                </a:tc>
                <a:tc>
                  <a:txBody>
                    <a:bodyPr/>
                    <a:lstStyle/>
                    <a:p>
                      <a:pPr indent="0" lvl="0" marL="0" rtl="0" algn="ctr">
                        <a:lnSpc>
                          <a:spcPct val="115000"/>
                        </a:lnSpc>
                        <a:spcBef>
                          <a:spcPts val="0"/>
                        </a:spcBef>
                        <a:spcAft>
                          <a:spcPts val="0"/>
                        </a:spcAft>
                        <a:buNone/>
                      </a:pPr>
                      <a:r>
                        <a:rPr lang="en">
                          <a:solidFill>
                            <a:schemeClr val="lt1"/>
                          </a:solidFill>
                        </a:rPr>
                        <a:t>0.59</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0.69</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317500" lvl="0" marL="457200" rtl="0" algn="ctr">
                        <a:lnSpc>
                          <a:spcPct val="115000"/>
                        </a:lnSpc>
                        <a:spcBef>
                          <a:spcPts val="0"/>
                        </a:spcBef>
                        <a:spcAft>
                          <a:spcPts val="0"/>
                        </a:spcAft>
                        <a:buClr>
                          <a:schemeClr val="lt1"/>
                        </a:buClr>
                        <a:buSzPts val="1400"/>
                        <a:buChar char="+"/>
                      </a:pPr>
                      <a:r>
                        <a:rPr lang="en">
                          <a:solidFill>
                            <a:schemeClr val="lt1"/>
                          </a:solidFill>
                        </a:rPr>
                        <a:t>Augmentations</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lang="en">
                          <a:solidFill>
                            <a:schemeClr val="lt1"/>
                          </a:solidFill>
                        </a:rPr>
                        <a:t>215</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38</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0.85</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63F0"/>
                    </a:solidFill>
                  </a:tcPr>
                </a:tc>
                <a:tc>
                  <a:txBody>
                    <a:bodyPr/>
                    <a:lstStyle/>
                    <a:p>
                      <a:pPr indent="0" lvl="0" marL="0" rtl="0" algn="ctr">
                        <a:lnSpc>
                          <a:spcPct val="115000"/>
                        </a:lnSpc>
                        <a:spcBef>
                          <a:spcPts val="0"/>
                        </a:spcBef>
                        <a:spcAft>
                          <a:spcPts val="0"/>
                        </a:spcAft>
                        <a:buNone/>
                      </a:pPr>
                      <a:r>
                        <a:rPr lang="en">
                          <a:solidFill>
                            <a:schemeClr val="lt1"/>
                          </a:solidFill>
                        </a:rPr>
                        <a:t>0.53</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0.65</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000">
                <a:tc>
                  <a:txBody>
                    <a:bodyPr/>
                    <a:lstStyle/>
                    <a:p>
                      <a:pPr indent="-317500" lvl="0" marL="457200" rtl="0" algn="ctr">
                        <a:lnSpc>
                          <a:spcPct val="115000"/>
                        </a:lnSpc>
                        <a:spcBef>
                          <a:spcPts val="0"/>
                        </a:spcBef>
                        <a:spcAft>
                          <a:spcPts val="0"/>
                        </a:spcAft>
                        <a:buClr>
                          <a:schemeClr val="lt1"/>
                        </a:buClr>
                        <a:buSzPts val="1400"/>
                        <a:buChar char="+"/>
                      </a:pPr>
                      <a:r>
                        <a:rPr lang="en">
                          <a:solidFill>
                            <a:schemeClr val="lt1"/>
                          </a:solidFill>
                        </a:rPr>
                        <a:t>Small Object Filtering</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c>
                  <a:txBody>
                    <a:bodyPr/>
                    <a:lstStyle/>
                    <a:p>
                      <a:pPr indent="0" lvl="0" marL="0" rtl="0" algn="ctr">
                        <a:lnSpc>
                          <a:spcPct val="115000"/>
                        </a:lnSpc>
                        <a:spcBef>
                          <a:spcPts val="0"/>
                        </a:spcBef>
                        <a:spcAft>
                          <a:spcPts val="0"/>
                        </a:spcAft>
                        <a:buNone/>
                      </a:pPr>
                      <a:r>
                        <a:rPr lang="en">
                          <a:solidFill>
                            <a:schemeClr val="lt1"/>
                          </a:solidFill>
                        </a:rPr>
                        <a:t>203</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50</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0.80</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E63F0"/>
                    </a:solidFill>
                  </a:tcPr>
                </a:tc>
                <a:tc>
                  <a:txBody>
                    <a:bodyPr/>
                    <a:lstStyle/>
                    <a:p>
                      <a:pPr indent="0" lvl="0" marL="0" rtl="0" algn="ctr">
                        <a:lnSpc>
                          <a:spcPct val="115000"/>
                        </a:lnSpc>
                        <a:spcBef>
                          <a:spcPts val="0"/>
                        </a:spcBef>
                        <a:spcAft>
                          <a:spcPts val="0"/>
                        </a:spcAft>
                        <a:buNone/>
                      </a:pPr>
                      <a:r>
                        <a:rPr lang="en">
                          <a:solidFill>
                            <a:schemeClr val="lt1"/>
                          </a:solidFill>
                        </a:rPr>
                        <a:t>0.67</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a:solidFill>
                            <a:schemeClr val="lt1"/>
                          </a:solidFill>
                        </a:rPr>
                        <a:t>0.73</a:t>
                      </a:r>
                      <a:endParaRPr>
                        <a:solidFill>
                          <a:schemeClr val="lt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186" name="Google Shape;186;p31"/>
          <p:cNvGraphicFramePr/>
          <p:nvPr/>
        </p:nvGraphicFramePr>
        <p:xfrm>
          <a:off x="805300" y="3119875"/>
          <a:ext cx="3000000" cy="3000000"/>
        </p:xfrm>
        <a:graphic>
          <a:graphicData uri="http://schemas.openxmlformats.org/drawingml/2006/table">
            <a:tbl>
              <a:tblPr>
                <a:noFill/>
                <a:tableStyleId>{11B6EAEC-40BE-42D4-865E-5E91C0DFF9E2}</a:tableStyleId>
              </a:tblPr>
              <a:tblGrid>
                <a:gridCol w="1382825"/>
                <a:gridCol w="1482475"/>
                <a:gridCol w="2790250"/>
              </a:tblGrid>
              <a:tr h="335075">
                <a:tc>
                  <a:txBody>
                    <a:bodyPr/>
                    <a:lstStyle/>
                    <a:p>
                      <a:pPr indent="0" lvl="0" marL="0" rtl="0" algn="l">
                        <a:spcBef>
                          <a:spcPts val="0"/>
                        </a:spcBef>
                        <a:spcAft>
                          <a:spcPts val="0"/>
                        </a:spcAft>
                        <a:buNone/>
                      </a:pPr>
                      <a:r>
                        <a:rPr lang="en">
                          <a:solidFill>
                            <a:schemeClr val="dk1"/>
                          </a:solidFill>
                        </a:rPr>
                        <a:t>Inference Time</a:t>
                      </a:r>
                      <a:endParaRPr>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en">
                          <a:solidFill>
                            <a:schemeClr val="lt1"/>
                          </a:solidFill>
                        </a:rPr>
                        <a:t>0.917 sec</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Avg per XTF</a:t>
                      </a:r>
                      <a:endParaRPr>
                        <a:solidFill>
                          <a:schemeClr val="lt1"/>
                        </a:solidFill>
                      </a:endParaRPr>
                    </a:p>
                  </a:txBody>
                  <a:tcPr marT="91425" marB="91425" marR="91425" marL="91425"/>
                </a:tc>
              </a:tr>
              <a:tr h="335075">
                <a:tc>
                  <a:txBody>
                    <a:bodyPr/>
                    <a:lstStyle/>
                    <a:p>
                      <a:pPr indent="0" lvl="0" marL="0" rtl="0" algn="l">
                        <a:spcBef>
                          <a:spcPts val="0"/>
                        </a:spcBef>
                        <a:spcAft>
                          <a:spcPts val="0"/>
                        </a:spcAft>
                        <a:buNone/>
                      </a:pPr>
                      <a:r>
                        <a:rPr lang="en">
                          <a:solidFill>
                            <a:schemeClr val="dk1"/>
                          </a:solidFill>
                        </a:rPr>
                        <a:t>CPU %</a:t>
                      </a:r>
                      <a:endParaRPr>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en">
                          <a:solidFill>
                            <a:schemeClr val="lt1"/>
                          </a:solidFill>
                        </a:rPr>
                        <a:t>37%</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Peak</a:t>
                      </a:r>
                      <a:endParaRPr>
                        <a:solidFill>
                          <a:schemeClr val="lt1"/>
                        </a:solidFill>
                      </a:endParaRPr>
                    </a:p>
                  </a:txBody>
                  <a:tcPr marT="91425" marB="91425" marR="91425" marL="91425"/>
                </a:tc>
              </a:tr>
              <a:tr h="335075">
                <a:tc>
                  <a:txBody>
                    <a:bodyPr/>
                    <a:lstStyle/>
                    <a:p>
                      <a:pPr indent="0" lvl="0" marL="0" rtl="0" algn="l">
                        <a:spcBef>
                          <a:spcPts val="0"/>
                        </a:spcBef>
                        <a:spcAft>
                          <a:spcPts val="0"/>
                        </a:spcAft>
                        <a:buNone/>
                      </a:pPr>
                      <a:r>
                        <a:rPr lang="en">
                          <a:solidFill>
                            <a:schemeClr val="dk1"/>
                          </a:solidFill>
                        </a:rPr>
                        <a:t>GPU %</a:t>
                      </a:r>
                      <a:endParaRPr>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en">
                          <a:solidFill>
                            <a:schemeClr val="lt1"/>
                          </a:solidFill>
                        </a:rPr>
                        <a:t>99%</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Peak</a:t>
                      </a:r>
                      <a:endParaRPr>
                        <a:solidFill>
                          <a:schemeClr val="lt1"/>
                        </a:solidFill>
                      </a:endParaRPr>
                    </a:p>
                  </a:txBody>
                  <a:tcPr marT="91425" marB="91425" marR="91425" marL="91425"/>
                </a:tc>
              </a:tr>
              <a:tr h="335075">
                <a:tc>
                  <a:txBody>
                    <a:bodyPr/>
                    <a:lstStyle/>
                    <a:p>
                      <a:pPr indent="0" lvl="0" marL="0" rtl="0" algn="l">
                        <a:spcBef>
                          <a:spcPts val="0"/>
                        </a:spcBef>
                        <a:spcAft>
                          <a:spcPts val="0"/>
                        </a:spcAft>
                        <a:buNone/>
                      </a:pPr>
                      <a:r>
                        <a:rPr lang="en">
                          <a:solidFill>
                            <a:schemeClr val="dk1"/>
                          </a:solidFill>
                        </a:rPr>
                        <a:t>Memory Usage</a:t>
                      </a:r>
                      <a:endParaRPr>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en">
                          <a:solidFill>
                            <a:schemeClr val="lt1"/>
                          </a:solidFill>
                        </a:rPr>
                        <a:t>3.7 GB RAM </a:t>
                      </a:r>
                      <a:endParaRPr>
                        <a:solidFill>
                          <a:schemeClr val="lt1"/>
                        </a:solidFill>
                      </a:endParaRPr>
                    </a:p>
                    <a:p>
                      <a:pPr indent="0" lvl="0" marL="0" rtl="0" algn="l">
                        <a:spcBef>
                          <a:spcPts val="0"/>
                        </a:spcBef>
                        <a:spcAft>
                          <a:spcPts val="0"/>
                        </a:spcAft>
                        <a:buNone/>
                      </a:pPr>
                      <a:r>
                        <a:rPr lang="en">
                          <a:solidFill>
                            <a:schemeClr val="lt1"/>
                          </a:solidFill>
                        </a:rPr>
                        <a:t>+ 2GB Swap</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Peak @ batch=4</a:t>
                      </a:r>
                      <a:r>
                        <a:rPr lang="en">
                          <a:solidFill>
                            <a:schemeClr val="lt1"/>
                          </a:solidFill>
                        </a:rPr>
                        <a:t> (linear scaling)</a:t>
                      </a:r>
                      <a:endParaRPr>
                        <a:solidFill>
                          <a:schemeClr val="lt1"/>
                        </a:solidFill>
                      </a:endParaRPr>
                    </a:p>
                    <a:p>
                      <a:pPr indent="0" lvl="0" marL="0" rtl="0" algn="l">
                        <a:spcBef>
                          <a:spcPts val="0"/>
                        </a:spcBef>
                        <a:spcAft>
                          <a:spcPts val="0"/>
                        </a:spcAft>
                        <a:buNone/>
                      </a:pPr>
                      <a:r>
                        <a:rPr lang="en">
                          <a:solidFill>
                            <a:schemeClr val="lt1"/>
                          </a:solidFill>
                        </a:rPr>
                        <a:t>upper limit on Jetson Nano</a:t>
                      </a:r>
                      <a:endParaRPr>
                        <a:solidFill>
                          <a:schemeClr val="lt1"/>
                        </a:solidFill>
                      </a:endParaRPr>
                    </a:p>
                  </a:txBody>
                  <a:tcPr marT="91425" marB="91425" marR="91425" marL="91425"/>
                </a:tc>
              </a:tr>
            </a:tbl>
          </a:graphicData>
        </a:graphic>
      </p:graphicFrame>
      <p:sp>
        <p:nvSpPr>
          <p:cNvPr id="187" name="Google Shape;187;p31"/>
          <p:cNvSpPr txBox="1"/>
          <p:nvPr>
            <p:ph idx="1" type="body"/>
          </p:nvPr>
        </p:nvSpPr>
        <p:spPr>
          <a:xfrm>
            <a:off x="6460850" y="3410550"/>
            <a:ext cx="2371500" cy="1216800"/>
          </a:xfrm>
          <a:prstGeom prst="rect">
            <a:avLst/>
          </a:prstGeom>
        </p:spPr>
        <p:txBody>
          <a:bodyPr anchorCtr="0" anchor="t" bIns="86450" lIns="86450" spcFirstLastPara="1" rIns="86450" wrap="square" tIns="86450">
            <a:noAutofit/>
          </a:bodyPr>
          <a:lstStyle/>
          <a:p>
            <a:pPr indent="-304800" lvl="0" marL="457200" rtl="0" algn="l">
              <a:spcBef>
                <a:spcPts val="0"/>
              </a:spcBef>
              <a:spcAft>
                <a:spcPts val="0"/>
              </a:spcAft>
              <a:buSzPts val="1200"/>
              <a:buChar char="●"/>
            </a:pPr>
            <a:r>
              <a:rPr lang="en" sz="1200"/>
              <a:t>Performed on Jetson Nano</a:t>
            </a:r>
            <a:endParaRPr sz="1200"/>
          </a:p>
          <a:p>
            <a:pPr indent="0" lvl="0" marL="4572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Expected to be better on TX2</a:t>
            </a:r>
            <a:endParaRPr sz="1200"/>
          </a:p>
          <a:p>
            <a:pPr indent="0" lvl="0" marL="457200" rtl="0" algn="l">
              <a:spcBef>
                <a:spcPts val="0"/>
              </a:spcBef>
              <a:spcAft>
                <a:spcPts val="0"/>
              </a:spcAft>
              <a:buNone/>
            </a:pPr>
            <a:r>
              <a:t/>
            </a:r>
            <a:endParaRPr sz="1200"/>
          </a:p>
        </p:txBody>
      </p:sp>
      <p:sp>
        <p:nvSpPr>
          <p:cNvPr id="188" name="Google Shape;188;p31"/>
          <p:cNvSpPr txBox="1"/>
          <p:nvPr/>
        </p:nvSpPr>
        <p:spPr>
          <a:xfrm rot="-5400000">
            <a:off x="-307750" y="1715850"/>
            <a:ext cx="14925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FFFFF"/>
                </a:solidFill>
                <a:latin typeface="Poppins"/>
                <a:ea typeface="Poppins"/>
                <a:cs typeface="Poppins"/>
                <a:sym typeface="Poppins"/>
              </a:rPr>
              <a:t>Model</a:t>
            </a:r>
            <a:endParaRPr sz="1700">
              <a:solidFill>
                <a:srgbClr val="FFFFFF"/>
              </a:solidFill>
              <a:latin typeface="Poppins"/>
              <a:ea typeface="Poppins"/>
              <a:cs typeface="Poppins"/>
              <a:sym typeface="Poppins"/>
            </a:endParaRPr>
          </a:p>
        </p:txBody>
      </p:sp>
      <p:sp>
        <p:nvSpPr>
          <p:cNvPr id="189" name="Google Shape;189;p31"/>
          <p:cNvSpPr txBox="1"/>
          <p:nvPr/>
        </p:nvSpPr>
        <p:spPr>
          <a:xfrm rot="-5400000">
            <a:off x="-307750" y="3791250"/>
            <a:ext cx="14925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FFFFF"/>
                </a:solidFill>
                <a:latin typeface="Poppins"/>
                <a:ea typeface="Poppins"/>
                <a:cs typeface="Poppins"/>
                <a:sym typeface="Poppins"/>
              </a:rPr>
              <a:t>Runtime</a:t>
            </a:r>
            <a:endParaRPr sz="1700">
              <a:solidFill>
                <a:srgbClr val="FFFFFF"/>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Model Size: </a:t>
            </a:r>
            <a:r>
              <a:rPr lang="en">
                <a:solidFill>
                  <a:schemeClr val="lt1"/>
                </a:solidFill>
              </a:rPr>
              <a:t>More p</a:t>
            </a:r>
            <a:r>
              <a:rPr lang="en">
                <a:solidFill>
                  <a:schemeClr val="lt1"/>
                </a:solidFill>
              </a:rPr>
              <a:t>arams -&gt; More Bang for the Buck</a:t>
            </a:r>
            <a:endParaRPr/>
          </a:p>
        </p:txBody>
      </p:sp>
      <p:sp>
        <p:nvSpPr>
          <p:cNvPr id="195" name="Google Shape;195;p32"/>
          <p:cNvSpPr txBox="1"/>
          <p:nvPr/>
        </p:nvSpPr>
        <p:spPr>
          <a:xfrm>
            <a:off x="461525" y="4092325"/>
            <a:ext cx="7744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00FFFF"/>
                </a:solidFill>
                <a:latin typeface="Poppins"/>
                <a:ea typeface="Poppins"/>
                <a:cs typeface="Poppins"/>
                <a:sym typeface="Poppins"/>
              </a:rPr>
              <a:t>Larger models → better performance, minimal extra cost.</a:t>
            </a:r>
            <a:endParaRPr sz="1700">
              <a:solidFill>
                <a:srgbClr val="00FFFF"/>
              </a:solidFill>
              <a:latin typeface="Poppins"/>
              <a:ea typeface="Poppins"/>
              <a:cs typeface="Poppins"/>
              <a:sym typeface="Poppins"/>
            </a:endParaRPr>
          </a:p>
        </p:txBody>
      </p:sp>
      <p:graphicFrame>
        <p:nvGraphicFramePr>
          <p:cNvPr id="196" name="Google Shape;196;p32"/>
          <p:cNvGraphicFramePr/>
          <p:nvPr/>
        </p:nvGraphicFramePr>
        <p:xfrm>
          <a:off x="461525" y="1276475"/>
          <a:ext cx="3000000" cy="3000000"/>
        </p:xfrm>
        <a:graphic>
          <a:graphicData uri="http://schemas.openxmlformats.org/drawingml/2006/table">
            <a:tbl>
              <a:tblPr>
                <a:noFill/>
                <a:tableStyleId>{11B6EAEC-40BE-42D4-865E-5E91C0DFF9E2}</a:tableStyleId>
              </a:tblPr>
              <a:tblGrid>
                <a:gridCol w="2745225"/>
                <a:gridCol w="1142125"/>
                <a:gridCol w="1142125"/>
                <a:gridCol w="1142125"/>
              </a:tblGrid>
              <a:tr h="381000">
                <a:tc>
                  <a:txBody>
                    <a:bodyPr/>
                    <a:lstStyle/>
                    <a:p>
                      <a:pPr indent="0" lvl="0" marL="0" rtl="0" algn="l">
                        <a:spcBef>
                          <a:spcPts val="0"/>
                        </a:spcBef>
                        <a:spcAft>
                          <a:spcPts val="0"/>
                        </a:spcAft>
                        <a:buNone/>
                      </a:pPr>
                      <a:r>
                        <a:rPr lang="en">
                          <a:solidFill>
                            <a:schemeClr val="dk1"/>
                          </a:solidFill>
                        </a:rPr>
                        <a:t>Metrics</a:t>
                      </a:r>
                      <a:endParaRPr>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en">
                          <a:solidFill>
                            <a:schemeClr val="dk1"/>
                          </a:solidFill>
                        </a:rPr>
                        <a:t>Lumen </a:t>
                      </a:r>
                      <a:r>
                        <a:rPr lang="en">
                          <a:solidFill>
                            <a:schemeClr val="dk1"/>
                          </a:solidFill>
                        </a:rPr>
                        <a:t>10</a:t>
                      </a:r>
                      <a:endParaRPr>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en">
                          <a:solidFill>
                            <a:schemeClr val="dk1"/>
                          </a:solidFill>
                        </a:rPr>
                        <a:t>Lumen 20</a:t>
                      </a:r>
                      <a:endParaRPr>
                        <a:solidFill>
                          <a:schemeClr val="dk1"/>
                        </a:solidFill>
                      </a:endParaRPr>
                    </a:p>
                  </a:txBody>
                  <a:tcPr marT="91425" marB="91425" marR="91425" marL="91425">
                    <a:solidFill>
                      <a:schemeClr val="lt2"/>
                    </a:solidFill>
                  </a:tcPr>
                </a:tc>
                <a:tc>
                  <a:txBody>
                    <a:bodyPr/>
                    <a:lstStyle/>
                    <a:p>
                      <a:pPr indent="0" lvl="0" marL="0" rtl="0" algn="l">
                        <a:spcBef>
                          <a:spcPts val="0"/>
                        </a:spcBef>
                        <a:spcAft>
                          <a:spcPts val="0"/>
                        </a:spcAft>
                        <a:buNone/>
                      </a:pPr>
                      <a:r>
                        <a:rPr lang="en">
                          <a:solidFill>
                            <a:schemeClr val="dk1"/>
                          </a:solidFill>
                        </a:rPr>
                        <a:t>Lumen 25</a:t>
                      </a:r>
                      <a:endParaRPr>
                        <a:solidFill>
                          <a:schemeClr val="dk1"/>
                        </a:solidFill>
                      </a:endParaRPr>
                    </a:p>
                  </a:txBody>
                  <a:tcPr marT="91425" marB="91425" marR="91425" marL="91425">
                    <a:solidFill>
                      <a:schemeClr val="lt2"/>
                    </a:solidFill>
                  </a:tcPr>
                </a:tc>
              </a:tr>
              <a:tr h="381000">
                <a:tc>
                  <a:txBody>
                    <a:bodyPr/>
                    <a:lstStyle/>
                    <a:p>
                      <a:pPr indent="0" lvl="0" marL="0" rtl="0" algn="ctr">
                        <a:spcBef>
                          <a:spcPts val="0"/>
                        </a:spcBef>
                        <a:spcAft>
                          <a:spcPts val="0"/>
                        </a:spcAft>
                        <a:buNone/>
                      </a:pPr>
                      <a:r>
                        <a:rPr lang="en">
                          <a:solidFill>
                            <a:schemeClr val="lt1"/>
                          </a:solidFill>
                        </a:rPr>
                        <a:t>Pixelwise F1</a:t>
                      </a:r>
                      <a:endParaRPr>
                        <a:solidFill>
                          <a:schemeClr val="lt1"/>
                        </a:solidFill>
                      </a:endParaRPr>
                    </a:p>
                  </a:txBody>
                  <a:tcPr marT="91425" marB="91425" marR="91425" marL="91425">
                    <a:solidFill>
                      <a:schemeClr val="accent2"/>
                    </a:solidFill>
                  </a:tcPr>
                </a:tc>
                <a:tc>
                  <a:txBody>
                    <a:bodyPr/>
                    <a:lstStyle/>
                    <a:p>
                      <a:pPr indent="0" lvl="0" marL="0" rtl="0" algn="ctr">
                        <a:spcBef>
                          <a:spcPts val="0"/>
                        </a:spcBef>
                        <a:spcAft>
                          <a:spcPts val="0"/>
                        </a:spcAft>
                        <a:buNone/>
                      </a:pPr>
                      <a:r>
                        <a:rPr lang="en">
                          <a:solidFill>
                            <a:schemeClr val="lt1"/>
                          </a:solidFill>
                        </a:rPr>
                        <a:t>0</a:t>
                      </a:r>
                      <a:r>
                        <a:rPr lang="en">
                          <a:solidFill>
                            <a:schemeClr val="lt1"/>
                          </a:solidFill>
                        </a:rPr>
                        <a:t>.868</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0</a:t>
                      </a:r>
                      <a:r>
                        <a:rPr lang="en">
                          <a:solidFill>
                            <a:schemeClr val="lt1"/>
                          </a:solidFill>
                        </a:rPr>
                        <a:t>.868</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0</a:t>
                      </a:r>
                      <a:r>
                        <a:rPr lang="en">
                          <a:solidFill>
                            <a:schemeClr val="lt1"/>
                          </a:solidFill>
                        </a:rPr>
                        <a:t>.872</a:t>
                      </a:r>
                      <a:endParaRPr>
                        <a:solidFill>
                          <a:schemeClr val="lt1"/>
                        </a:solidFill>
                      </a:endParaRPr>
                    </a:p>
                  </a:txBody>
                  <a:tcPr marT="91425" marB="91425" marR="91425" marL="91425"/>
                </a:tc>
              </a:tr>
              <a:tr h="381000">
                <a:tc>
                  <a:txBody>
                    <a:bodyPr/>
                    <a:lstStyle/>
                    <a:p>
                      <a:pPr indent="0" lvl="0" marL="0" rtl="0" algn="ctr">
                        <a:spcBef>
                          <a:spcPts val="0"/>
                        </a:spcBef>
                        <a:spcAft>
                          <a:spcPts val="0"/>
                        </a:spcAft>
                        <a:buNone/>
                      </a:pPr>
                      <a:r>
                        <a:rPr lang="en">
                          <a:solidFill>
                            <a:schemeClr val="lt1"/>
                          </a:solidFill>
                        </a:rPr>
                        <a:t>IoU</a:t>
                      </a:r>
                      <a:endParaRPr>
                        <a:solidFill>
                          <a:schemeClr val="lt1"/>
                        </a:solidFill>
                      </a:endParaRPr>
                    </a:p>
                  </a:txBody>
                  <a:tcPr marT="91425" marB="91425" marR="91425" marL="91425">
                    <a:solidFill>
                      <a:schemeClr val="accent2"/>
                    </a:solidFill>
                  </a:tcPr>
                </a:tc>
                <a:tc>
                  <a:txBody>
                    <a:bodyPr/>
                    <a:lstStyle/>
                    <a:p>
                      <a:pPr indent="0" lvl="0" marL="0" rtl="0" algn="ctr">
                        <a:spcBef>
                          <a:spcPts val="0"/>
                        </a:spcBef>
                        <a:spcAft>
                          <a:spcPts val="0"/>
                        </a:spcAft>
                        <a:buNone/>
                      </a:pPr>
                      <a:r>
                        <a:rPr lang="en">
                          <a:solidFill>
                            <a:schemeClr val="lt1"/>
                          </a:solidFill>
                        </a:rPr>
                        <a:t>0.767</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0.768</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0.773</a:t>
                      </a:r>
                      <a:endParaRPr>
                        <a:solidFill>
                          <a:schemeClr val="lt1"/>
                        </a:solidFill>
                      </a:endParaRPr>
                    </a:p>
                  </a:txBody>
                  <a:tcPr marT="91425" marB="91425" marR="91425" marL="91425"/>
                </a:tc>
              </a:tr>
              <a:tr h="381000">
                <a:tc>
                  <a:txBody>
                    <a:bodyPr/>
                    <a:lstStyle/>
                    <a:p>
                      <a:pPr indent="0" lvl="0" marL="0" rtl="0" algn="ctr">
                        <a:spcBef>
                          <a:spcPts val="0"/>
                        </a:spcBef>
                        <a:spcAft>
                          <a:spcPts val="0"/>
                        </a:spcAft>
                        <a:buNone/>
                      </a:pPr>
                      <a:r>
                        <a:rPr lang="en">
                          <a:solidFill>
                            <a:schemeClr val="lt1"/>
                          </a:solidFill>
                        </a:rPr>
                        <a:t>Avg </a:t>
                      </a:r>
                      <a:r>
                        <a:rPr lang="en">
                          <a:solidFill>
                            <a:schemeClr val="lt1"/>
                          </a:solidFill>
                        </a:rPr>
                        <a:t>sec </a:t>
                      </a:r>
                      <a:r>
                        <a:rPr lang="en">
                          <a:solidFill>
                            <a:schemeClr val="lt1"/>
                          </a:solidFill>
                        </a:rPr>
                        <a:t>per processed XTF (TensorRT)</a:t>
                      </a:r>
                      <a:endParaRPr>
                        <a:solidFill>
                          <a:schemeClr val="lt1"/>
                        </a:solidFill>
                      </a:endParaRPr>
                    </a:p>
                  </a:txBody>
                  <a:tcPr marT="91425" marB="91425" marR="91425" marL="91425">
                    <a:solidFill>
                      <a:schemeClr val="accent2"/>
                    </a:solidFill>
                  </a:tcPr>
                </a:tc>
                <a:tc>
                  <a:txBody>
                    <a:bodyPr/>
                    <a:lstStyle/>
                    <a:p>
                      <a:pPr indent="0" lvl="0" marL="0" rtl="0" algn="ctr">
                        <a:spcBef>
                          <a:spcPts val="0"/>
                        </a:spcBef>
                        <a:spcAft>
                          <a:spcPts val="0"/>
                        </a:spcAft>
                        <a:buNone/>
                      </a:pPr>
                      <a:r>
                        <a:rPr lang="en">
                          <a:solidFill>
                            <a:schemeClr val="lt1"/>
                          </a:solidFill>
                        </a:rPr>
                        <a:t>0.565</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0.680</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0.917</a:t>
                      </a:r>
                      <a:endParaRPr>
                        <a:solidFill>
                          <a:schemeClr val="lt1"/>
                        </a:solidFill>
                      </a:endParaRPr>
                    </a:p>
                  </a:txBody>
                  <a:tcPr marT="91425" marB="91425" marR="91425" marL="91425"/>
                </a:tc>
              </a:tr>
              <a:tr h="381000">
                <a:tc>
                  <a:txBody>
                    <a:bodyPr/>
                    <a:lstStyle/>
                    <a:p>
                      <a:pPr indent="0" lvl="0" marL="0" rtl="0" algn="ctr">
                        <a:spcBef>
                          <a:spcPts val="0"/>
                        </a:spcBef>
                        <a:spcAft>
                          <a:spcPts val="0"/>
                        </a:spcAft>
                        <a:buNone/>
                      </a:pPr>
                      <a:r>
                        <a:rPr lang="en">
                          <a:solidFill>
                            <a:schemeClr val="lt1"/>
                          </a:solidFill>
                        </a:rPr>
                        <a:t>Avg / Max CPU Utilization %</a:t>
                      </a:r>
                      <a:endParaRPr>
                        <a:solidFill>
                          <a:schemeClr val="lt1"/>
                        </a:solidFill>
                      </a:endParaRPr>
                    </a:p>
                  </a:txBody>
                  <a:tcPr marT="91425" marB="91425" marR="91425" marL="91425">
                    <a:solidFill>
                      <a:schemeClr val="accent2"/>
                    </a:solidFill>
                  </a:tcPr>
                </a:tc>
                <a:tc>
                  <a:txBody>
                    <a:bodyPr/>
                    <a:lstStyle/>
                    <a:p>
                      <a:pPr indent="0" lvl="0" marL="0" rtl="0" algn="ctr">
                        <a:spcBef>
                          <a:spcPts val="0"/>
                        </a:spcBef>
                        <a:spcAft>
                          <a:spcPts val="0"/>
                        </a:spcAft>
                        <a:buNone/>
                      </a:pPr>
                      <a:r>
                        <a:rPr lang="en">
                          <a:solidFill>
                            <a:schemeClr val="lt1"/>
                          </a:solidFill>
                        </a:rPr>
                        <a:t>11.1  /  37</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10.1  /  37 </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10.1  /  37</a:t>
                      </a:r>
                      <a:endParaRPr>
                        <a:solidFill>
                          <a:schemeClr val="lt1"/>
                        </a:solidFill>
                      </a:endParaRPr>
                    </a:p>
                  </a:txBody>
                  <a:tcPr marT="91425" marB="91425" marR="91425" marL="91425"/>
                </a:tc>
              </a:tr>
              <a:tr h="381000">
                <a:tc>
                  <a:txBody>
                    <a:bodyPr/>
                    <a:lstStyle/>
                    <a:p>
                      <a:pPr indent="0" lvl="0" marL="0" rtl="0" algn="ctr">
                        <a:spcBef>
                          <a:spcPts val="0"/>
                        </a:spcBef>
                        <a:spcAft>
                          <a:spcPts val="0"/>
                        </a:spcAft>
                        <a:buNone/>
                      </a:pPr>
                      <a:r>
                        <a:rPr lang="en">
                          <a:solidFill>
                            <a:schemeClr val="lt1"/>
                          </a:solidFill>
                        </a:rPr>
                        <a:t>Avg / Max GPU Utilization %</a:t>
                      </a:r>
                      <a:endParaRPr>
                        <a:solidFill>
                          <a:schemeClr val="lt1"/>
                        </a:solidFill>
                      </a:endParaRPr>
                    </a:p>
                  </a:txBody>
                  <a:tcPr marT="91425" marB="91425" marR="91425" marL="91425">
                    <a:solidFill>
                      <a:schemeClr val="accent2"/>
                    </a:solidFill>
                  </a:tcPr>
                </a:tc>
                <a:tc>
                  <a:txBody>
                    <a:bodyPr/>
                    <a:lstStyle/>
                    <a:p>
                      <a:pPr indent="0" lvl="0" marL="0" rtl="0" algn="ctr">
                        <a:spcBef>
                          <a:spcPts val="0"/>
                        </a:spcBef>
                        <a:spcAft>
                          <a:spcPts val="0"/>
                        </a:spcAft>
                        <a:buNone/>
                      </a:pPr>
                      <a:r>
                        <a:rPr lang="en">
                          <a:solidFill>
                            <a:schemeClr val="lt1"/>
                          </a:solidFill>
                        </a:rPr>
                        <a:t>81.7  /  99</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85.4  /  99</a:t>
                      </a:r>
                      <a:endParaRPr>
                        <a:solidFill>
                          <a:schemeClr val="lt1"/>
                        </a:solidFill>
                      </a:endParaRPr>
                    </a:p>
                  </a:txBody>
                  <a:tcPr marT="91425" marB="91425" marR="91425" marL="91425"/>
                </a:tc>
                <a:tc>
                  <a:txBody>
                    <a:bodyPr/>
                    <a:lstStyle/>
                    <a:p>
                      <a:pPr indent="0" lvl="0" marL="0" rtl="0" algn="ctr">
                        <a:spcBef>
                          <a:spcPts val="0"/>
                        </a:spcBef>
                        <a:spcAft>
                          <a:spcPts val="0"/>
                        </a:spcAft>
                        <a:buNone/>
                      </a:pPr>
                      <a:r>
                        <a:rPr lang="en">
                          <a:solidFill>
                            <a:schemeClr val="lt1"/>
                          </a:solidFill>
                        </a:rPr>
                        <a:t>87.0  /  99</a:t>
                      </a:r>
                      <a:endParaRPr>
                        <a:solidFill>
                          <a:schemeClr val="lt1"/>
                        </a:solidFill>
                      </a:endParaRPr>
                    </a:p>
                  </a:txBody>
                  <a:tcPr marT="91425" marB="91425" marR="91425" marL="91425"/>
                </a:tc>
              </a:tr>
            </a:tbl>
          </a:graphicData>
        </a:graphic>
      </p:graphicFrame>
      <p:sp>
        <p:nvSpPr>
          <p:cNvPr id="197" name="Google Shape;197;p32"/>
          <p:cNvSpPr/>
          <p:nvPr/>
        </p:nvSpPr>
        <p:spPr>
          <a:xfrm>
            <a:off x="7325800" y="2571750"/>
            <a:ext cx="1545900" cy="329400"/>
          </a:xfrm>
          <a:prstGeom prst="roundRect">
            <a:avLst>
              <a:gd fmla="val 50000" name="adj"/>
            </a:avLst>
          </a:prstGeom>
          <a:solidFill>
            <a:srgbClr val="1AFF9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Runs &lt;1 sec</a:t>
            </a:r>
            <a:endParaRPr>
              <a:latin typeface="Poppins"/>
              <a:ea typeface="Poppins"/>
              <a:cs typeface="Poppins"/>
              <a:sym typeface="Poppins"/>
            </a:endParaRPr>
          </a:p>
        </p:txBody>
      </p:sp>
      <p:cxnSp>
        <p:nvCxnSpPr>
          <p:cNvPr id="198" name="Google Shape;198;p32"/>
          <p:cNvCxnSpPr>
            <a:stCxn id="197" idx="1"/>
          </p:cNvCxnSpPr>
          <p:nvPr/>
        </p:nvCxnSpPr>
        <p:spPr>
          <a:xfrm rot="10800000">
            <a:off x="6793000" y="2736450"/>
            <a:ext cx="532800" cy="0"/>
          </a:xfrm>
          <a:prstGeom prst="straightConnector1">
            <a:avLst/>
          </a:prstGeom>
          <a:noFill/>
          <a:ln cap="flat" cmpd="sng" w="28575">
            <a:solidFill>
              <a:srgbClr val="1AFF9D"/>
            </a:solidFill>
            <a:prstDash val="solid"/>
            <a:round/>
            <a:headEnd len="med" w="med" type="none"/>
            <a:tailEnd len="med" w="med" type="triangle"/>
          </a:ln>
        </p:spPr>
      </p:cxnSp>
      <p:sp>
        <p:nvSpPr>
          <p:cNvPr id="199" name="Google Shape;199;p32"/>
          <p:cNvSpPr/>
          <p:nvPr/>
        </p:nvSpPr>
        <p:spPr>
          <a:xfrm>
            <a:off x="7325800" y="1729113"/>
            <a:ext cx="1545900" cy="329400"/>
          </a:xfrm>
          <a:prstGeom prst="roundRect">
            <a:avLst>
              <a:gd fmla="val 50000" name="adj"/>
            </a:avLst>
          </a:prstGeom>
          <a:solidFill>
            <a:srgbClr val="1AFF9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Poppins"/>
                <a:ea typeface="Poppins"/>
                <a:cs typeface="Poppins"/>
                <a:sym typeface="Poppins"/>
              </a:rPr>
              <a:t>Good Metrics</a:t>
            </a:r>
            <a:endParaRPr>
              <a:latin typeface="Poppins"/>
              <a:ea typeface="Poppins"/>
              <a:cs typeface="Poppins"/>
              <a:sym typeface="Poppins"/>
            </a:endParaRPr>
          </a:p>
        </p:txBody>
      </p:sp>
      <p:cxnSp>
        <p:nvCxnSpPr>
          <p:cNvPr id="200" name="Google Shape;200;p32"/>
          <p:cNvCxnSpPr>
            <a:stCxn id="199" idx="1"/>
          </p:cNvCxnSpPr>
          <p:nvPr/>
        </p:nvCxnSpPr>
        <p:spPr>
          <a:xfrm rot="10800000">
            <a:off x="6793000" y="1893813"/>
            <a:ext cx="532800" cy="0"/>
          </a:xfrm>
          <a:prstGeom prst="straightConnector1">
            <a:avLst/>
          </a:prstGeom>
          <a:noFill/>
          <a:ln cap="flat" cmpd="sng" w="28575">
            <a:solidFill>
              <a:srgbClr val="1AFF9D"/>
            </a:solidFill>
            <a:prstDash val="solid"/>
            <a:round/>
            <a:headEnd len="med" w="med" type="none"/>
            <a:tailEnd len="med" w="med" type="triangle"/>
          </a:ln>
        </p:spPr>
      </p:cxnSp>
      <p:sp>
        <p:nvSpPr>
          <p:cNvPr id="201" name="Google Shape;201;p32"/>
          <p:cNvSpPr/>
          <p:nvPr/>
        </p:nvSpPr>
        <p:spPr>
          <a:xfrm>
            <a:off x="7325800" y="3239752"/>
            <a:ext cx="1545900" cy="447300"/>
          </a:xfrm>
          <a:prstGeom prst="roundRect">
            <a:avLst>
              <a:gd fmla="val 50000" name="adj"/>
            </a:avLst>
          </a:prstGeom>
          <a:solidFill>
            <a:srgbClr val="1AFF9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Poppins"/>
                <a:ea typeface="Poppins"/>
                <a:cs typeface="Poppins"/>
                <a:sym typeface="Poppins"/>
              </a:rPr>
              <a:t>Reasonable CPU</a:t>
            </a:r>
            <a:endParaRPr sz="1300">
              <a:latin typeface="Poppins"/>
              <a:ea typeface="Poppins"/>
              <a:cs typeface="Poppins"/>
              <a:sym typeface="Poppins"/>
            </a:endParaRPr>
          </a:p>
        </p:txBody>
      </p:sp>
      <p:cxnSp>
        <p:nvCxnSpPr>
          <p:cNvPr id="202" name="Google Shape;202;p32"/>
          <p:cNvCxnSpPr>
            <a:stCxn id="201" idx="1"/>
          </p:cNvCxnSpPr>
          <p:nvPr/>
        </p:nvCxnSpPr>
        <p:spPr>
          <a:xfrm rot="10800000">
            <a:off x="6793000" y="3463402"/>
            <a:ext cx="532800" cy="0"/>
          </a:xfrm>
          <a:prstGeom prst="straightConnector1">
            <a:avLst/>
          </a:prstGeom>
          <a:noFill/>
          <a:ln cap="flat" cmpd="sng" w="28575">
            <a:solidFill>
              <a:srgbClr val="1AFF9D"/>
            </a:solidFill>
            <a:prstDash val="solid"/>
            <a:round/>
            <a:headEnd len="med" w="med" type="none"/>
            <a:tailEnd len="med" w="med" type="triangle"/>
          </a:ln>
        </p:spPr>
      </p:cxnSp>
      <p:sp>
        <p:nvSpPr>
          <p:cNvPr id="203" name="Google Shape;203;p32"/>
          <p:cNvSpPr txBox="1"/>
          <p:nvPr/>
        </p:nvSpPr>
        <p:spPr>
          <a:xfrm>
            <a:off x="7192450" y="1267274"/>
            <a:ext cx="1812600" cy="39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Poppins"/>
                <a:ea typeface="Poppins"/>
                <a:cs typeface="Poppins"/>
                <a:sym typeface="Poppins"/>
              </a:rPr>
              <a:t>All Models:</a:t>
            </a:r>
            <a:endParaRPr>
              <a:solidFill>
                <a:schemeClr val="lt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p:nvPr/>
        </p:nvSpPr>
        <p:spPr>
          <a:xfrm>
            <a:off x="4389718" y="2726412"/>
            <a:ext cx="1958400" cy="133500"/>
          </a:xfrm>
          <a:prstGeom prst="rect">
            <a:avLst/>
          </a:prstGeom>
          <a:solidFill>
            <a:srgbClr val="307A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3"/>
          <p:cNvSpPr/>
          <p:nvPr/>
        </p:nvSpPr>
        <p:spPr>
          <a:xfrm>
            <a:off x="6348065" y="2726412"/>
            <a:ext cx="2349300" cy="133500"/>
          </a:xfrm>
          <a:prstGeom prst="rect">
            <a:avLst/>
          </a:prstGeom>
          <a:solidFill>
            <a:srgbClr val="0942A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3"/>
          <p:cNvSpPr/>
          <p:nvPr/>
        </p:nvSpPr>
        <p:spPr>
          <a:xfrm>
            <a:off x="473016" y="2726412"/>
            <a:ext cx="1958400" cy="133500"/>
          </a:xfrm>
          <a:prstGeom prst="rect">
            <a:avLst/>
          </a:prstGeom>
          <a:solidFill>
            <a:srgbClr val="307A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11" name="Google Shape;211;p33"/>
          <p:cNvSpPr txBox="1"/>
          <p:nvPr/>
        </p:nvSpPr>
        <p:spPr>
          <a:xfrm>
            <a:off x="36406" y="2862200"/>
            <a:ext cx="8712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t/>
            </a:r>
            <a:endParaRPr b="1" sz="1200">
              <a:solidFill>
                <a:schemeClr val="lt1"/>
              </a:solidFill>
              <a:latin typeface="Roboto"/>
              <a:ea typeface="Roboto"/>
              <a:cs typeface="Roboto"/>
              <a:sym typeface="Roboto"/>
            </a:endParaRPr>
          </a:p>
        </p:txBody>
      </p:sp>
      <p:sp>
        <p:nvSpPr>
          <p:cNvPr id="212" name="Google Shape;212;p33"/>
          <p:cNvSpPr txBox="1"/>
          <p:nvPr/>
        </p:nvSpPr>
        <p:spPr>
          <a:xfrm>
            <a:off x="363537" y="1427897"/>
            <a:ext cx="22536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t/>
            </a:r>
            <a:endParaRPr sz="800">
              <a:solidFill>
                <a:schemeClr val="lt1"/>
              </a:solidFill>
              <a:latin typeface="Roboto"/>
              <a:ea typeface="Roboto"/>
              <a:cs typeface="Roboto"/>
              <a:sym typeface="Roboto"/>
            </a:endParaRPr>
          </a:p>
        </p:txBody>
      </p:sp>
      <p:sp>
        <p:nvSpPr>
          <p:cNvPr id="213" name="Google Shape;213;p33"/>
          <p:cNvSpPr/>
          <p:nvPr/>
        </p:nvSpPr>
        <p:spPr>
          <a:xfrm>
            <a:off x="2431368" y="2726412"/>
            <a:ext cx="1958400" cy="133500"/>
          </a:xfrm>
          <a:prstGeom prst="rect">
            <a:avLst/>
          </a:prstGeom>
          <a:solidFill>
            <a:srgbClr val="0942A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3"/>
          <p:cNvSpPr txBox="1"/>
          <p:nvPr/>
        </p:nvSpPr>
        <p:spPr>
          <a:xfrm>
            <a:off x="1539891" y="2325523"/>
            <a:ext cx="8496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en" sz="1300">
                <a:solidFill>
                  <a:schemeClr val="lt1"/>
                </a:solidFill>
                <a:latin typeface="Roboto"/>
                <a:ea typeface="Roboto"/>
                <a:cs typeface="Roboto"/>
                <a:sym typeface="Roboto"/>
              </a:rPr>
              <a:t>Q4 2025</a:t>
            </a:r>
            <a:endParaRPr b="1" sz="1300">
              <a:solidFill>
                <a:schemeClr val="lt1"/>
              </a:solidFill>
              <a:latin typeface="Roboto"/>
              <a:ea typeface="Roboto"/>
              <a:cs typeface="Roboto"/>
              <a:sym typeface="Roboto"/>
            </a:endParaRPr>
          </a:p>
          <a:p>
            <a:pPr indent="0" lvl="0" marL="0" rtl="0" algn="r">
              <a:lnSpc>
                <a:spcPct val="115000"/>
              </a:lnSpc>
              <a:spcBef>
                <a:spcPts val="1600"/>
              </a:spcBef>
              <a:spcAft>
                <a:spcPts val="1600"/>
              </a:spcAft>
              <a:buNone/>
            </a:pPr>
            <a:r>
              <a:t/>
            </a:r>
            <a:endParaRPr b="1" sz="1300">
              <a:solidFill>
                <a:schemeClr val="lt1"/>
              </a:solidFill>
              <a:latin typeface="Roboto"/>
              <a:ea typeface="Roboto"/>
              <a:cs typeface="Roboto"/>
              <a:sym typeface="Roboto"/>
            </a:endParaRPr>
          </a:p>
        </p:txBody>
      </p:sp>
      <p:cxnSp>
        <p:nvCxnSpPr>
          <p:cNvPr id="215" name="Google Shape;215;p33"/>
          <p:cNvCxnSpPr/>
          <p:nvPr/>
        </p:nvCxnSpPr>
        <p:spPr>
          <a:xfrm rot="10800000">
            <a:off x="2435689" y="2726404"/>
            <a:ext cx="0" cy="359400"/>
          </a:xfrm>
          <a:prstGeom prst="straightConnector1">
            <a:avLst/>
          </a:prstGeom>
          <a:noFill/>
          <a:ln cap="flat" cmpd="sng" w="9525">
            <a:solidFill>
              <a:schemeClr val="lt1"/>
            </a:solidFill>
            <a:prstDash val="solid"/>
            <a:round/>
            <a:headEnd len="sm" w="sm" type="none"/>
            <a:tailEnd len="sm" w="sm" type="none"/>
          </a:ln>
        </p:spPr>
      </p:cxnSp>
      <p:sp>
        <p:nvSpPr>
          <p:cNvPr id="216" name="Google Shape;216;p33"/>
          <p:cNvSpPr/>
          <p:nvPr/>
        </p:nvSpPr>
        <p:spPr>
          <a:xfrm rot="10800000">
            <a:off x="2389489" y="3045830"/>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3"/>
          <p:cNvSpPr txBox="1"/>
          <p:nvPr/>
        </p:nvSpPr>
        <p:spPr>
          <a:xfrm>
            <a:off x="494650" y="3214600"/>
            <a:ext cx="1987200" cy="1170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lt1"/>
                </a:solidFill>
                <a:latin typeface="Roboto"/>
                <a:ea typeface="Roboto"/>
                <a:cs typeface="Roboto"/>
                <a:sym typeface="Roboto"/>
              </a:rPr>
              <a:t>Streamlit Proof of Concept</a:t>
            </a:r>
            <a:endParaRPr b="1" sz="1100">
              <a:solidFill>
                <a:schemeClr val="lt1"/>
              </a:solidFill>
              <a:latin typeface="Roboto"/>
              <a:ea typeface="Roboto"/>
              <a:cs typeface="Roboto"/>
              <a:sym typeface="Roboto"/>
            </a:endParaRPr>
          </a:p>
          <a:p>
            <a:pPr indent="0" lvl="0" marL="0" rtl="0" algn="r">
              <a:spcBef>
                <a:spcPts val="0"/>
              </a:spcBef>
              <a:spcAft>
                <a:spcPts val="0"/>
              </a:spcAft>
              <a:buNone/>
            </a:pPr>
            <a:r>
              <a:t/>
            </a:r>
            <a:endParaRPr b="1" sz="1100">
              <a:solidFill>
                <a:schemeClr val="lt1"/>
              </a:solidFill>
              <a:latin typeface="Roboto"/>
              <a:ea typeface="Roboto"/>
              <a:cs typeface="Roboto"/>
              <a:sym typeface="Roboto"/>
            </a:endParaRPr>
          </a:p>
          <a:p>
            <a:pPr indent="0" lvl="0" marL="0" rtl="0" algn="r">
              <a:spcBef>
                <a:spcPts val="0"/>
              </a:spcBef>
              <a:spcAft>
                <a:spcPts val="1600"/>
              </a:spcAft>
              <a:buNone/>
            </a:pPr>
            <a:r>
              <a:rPr lang="en" sz="1100">
                <a:solidFill>
                  <a:schemeClr val="lt2"/>
                </a:solidFill>
                <a:latin typeface="Roboto"/>
                <a:ea typeface="Roboto"/>
                <a:cs typeface="Roboto"/>
                <a:sym typeface="Roboto"/>
              </a:rPr>
              <a:t>Review and understand datasets that Bedrock has. Come up with a reasonable splitting strategy. Demo streamlit app on held out data. </a:t>
            </a:r>
            <a:endParaRPr b="1" sz="1100">
              <a:solidFill>
                <a:schemeClr val="lt2"/>
              </a:solidFill>
              <a:latin typeface="Roboto"/>
              <a:ea typeface="Roboto"/>
              <a:cs typeface="Roboto"/>
              <a:sym typeface="Roboto"/>
            </a:endParaRPr>
          </a:p>
        </p:txBody>
      </p:sp>
      <p:pic>
        <p:nvPicPr>
          <p:cNvPr id="218" name="Google Shape;218;p33"/>
          <p:cNvPicPr preferRelativeResize="0"/>
          <p:nvPr/>
        </p:nvPicPr>
        <p:blipFill rotWithShape="1">
          <a:blip r:embed="rId3">
            <a:alphaModFix/>
          </a:blip>
          <a:srcRect b="0" l="0" r="0" t="0"/>
          <a:stretch/>
        </p:blipFill>
        <p:spPr>
          <a:xfrm>
            <a:off x="0" y="4924800"/>
            <a:ext cx="1268396" cy="21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p:nvPr/>
        </p:nvSpPr>
        <p:spPr>
          <a:xfrm>
            <a:off x="4389718" y="2726412"/>
            <a:ext cx="1958400" cy="133500"/>
          </a:xfrm>
          <a:prstGeom prst="rect">
            <a:avLst/>
          </a:prstGeom>
          <a:solidFill>
            <a:srgbClr val="307A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4"/>
          <p:cNvSpPr/>
          <p:nvPr/>
        </p:nvSpPr>
        <p:spPr>
          <a:xfrm>
            <a:off x="6348065" y="2726412"/>
            <a:ext cx="2349300" cy="133500"/>
          </a:xfrm>
          <a:prstGeom prst="rect">
            <a:avLst/>
          </a:prstGeom>
          <a:solidFill>
            <a:srgbClr val="0942A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4"/>
          <p:cNvSpPr/>
          <p:nvPr/>
        </p:nvSpPr>
        <p:spPr>
          <a:xfrm>
            <a:off x="473016" y="2726412"/>
            <a:ext cx="1958400" cy="133500"/>
          </a:xfrm>
          <a:prstGeom prst="rect">
            <a:avLst/>
          </a:prstGeom>
          <a:solidFill>
            <a:srgbClr val="307A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26" name="Google Shape;226;p34"/>
          <p:cNvSpPr txBox="1"/>
          <p:nvPr/>
        </p:nvSpPr>
        <p:spPr>
          <a:xfrm>
            <a:off x="36406" y="2862200"/>
            <a:ext cx="8712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t/>
            </a:r>
            <a:endParaRPr b="1" sz="1200">
              <a:solidFill>
                <a:schemeClr val="lt1"/>
              </a:solidFill>
              <a:latin typeface="Roboto"/>
              <a:ea typeface="Roboto"/>
              <a:cs typeface="Roboto"/>
              <a:sym typeface="Roboto"/>
            </a:endParaRPr>
          </a:p>
        </p:txBody>
      </p:sp>
      <p:sp>
        <p:nvSpPr>
          <p:cNvPr id="227" name="Google Shape;227;p34"/>
          <p:cNvSpPr txBox="1"/>
          <p:nvPr/>
        </p:nvSpPr>
        <p:spPr>
          <a:xfrm>
            <a:off x="363537" y="1427897"/>
            <a:ext cx="22536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t/>
            </a:r>
            <a:endParaRPr sz="800">
              <a:solidFill>
                <a:schemeClr val="lt1"/>
              </a:solidFill>
              <a:latin typeface="Roboto"/>
              <a:ea typeface="Roboto"/>
              <a:cs typeface="Roboto"/>
              <a:sym typeface="Roboto"/>
            </a:endParaRPr>
          </a:p>
        </p:txBody>
      </p:sp>
      <p:sp>
        <p:nvSpPr>
          <p:cNvPr id="228" name="Google Shape;228;p34"/>
          <p:cNvSpPr/>
          <p:nvPr/>
        </p:nvSpPr>
        <p:spPr>
          <a:xfrm>
            <a:off x="2431368" y="2726412"/>
            <a:ext cx="1958400" cy="133500"/>
          </a:xfrm>
          <a:prstGeom prst="rect">
            <a:avLst/>
          </a:prstGeom>
          <a:solidFill>
            <a:srgbClr val="0942A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4"/>
          <p:cNvSpPr txBox="1"/>
          <p:nvPr/>
        </p:nvSpPr>
        <p:spPr>
          <a:xfrm>
            <a:off x="1539891" y="2325523"/>
            <a:ext cx="8496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en" sz="1300">
                <a:solidFill>
                  <a:schemeClr val="lt1"/>
                </a:solidFill>
                <a:latin typeface="Roboto"/>
                <a:ea typeface="Roboto"/>
                <a:cs typeface="Roboto"/>
                <a:sym typeface="Roboto"/>
              </a:rPr>
              <a:t>Q4 2025</a:t>
            </a:r>
            <a:endParaRPr b="1" sz="1300">
              <a:solidFill>
                <a:schemeClr val="lt1"/>
              </a:solidFill>
              <a:latin typeface="Roboto"/>
              <a:ea typeface="Roboto"/>
              <a:cs typeface="Roboto"/>
              <a:sym typeface="Roboto"/>
            </a:endParaRPr>
          </a:p>
          <a:p>
            <a:pPr indent="0" lvl="0" marL="0" rtl="0" algn="r">
              <a:lnSpc>
                <a:spcPct val="115000"/>
              </a:lnSpc>
              <a:spcBef>
                <a:spcPts val="1600"/>
              </a:spcBef>
              <a:spcAft>
                <a:spcPts val="1600"/>
              </a:spcAft>
              <a:buNone/>
            </a:pPr>
            <a:r>
              <a:t/>
            </a:r>
            <a:endParaRPr b="1" sz="1300">
              <a:solidFill>
                <a:schemeClr val="lt1"/>
              </a:solidFill>
              <a:latin typeface="Roboto"/>
              <a:ea typeface="Roboto"/>
              <a:cs typeface="Roboto"/>
              <a:sym typeface="Roboto"/>
            </a:endParaRPr>
          </a:p>
        </p:txBody>
      </p:sp>
      <p:cxnSp>
        <p:nvCxnSpPr>
          <p:cNvPr id="230" name="Google Shape;230;p34"/>
          <p:cNvCxnSpPr/>
          <p:nvPr/>
        </p:nvCxnSpPr>
        <p:spPr>
          <a:xfrm rot="10800000">
            <a:off x="2435689" y="2726404"/>
            <a:ext cx="0" cy="359400"/>
          </a:xfrm>
          <a:prstGeom prst="straightConnector1">
            <a:avLst/>
          </a:prstGeom>
          <a:noFill/>
          <a:ln cap="flat" cmpd="sng" w="9525">
            <a:solidFill>
              <a:schemeClr val="lt1"/>
            </a:solidFill>
            <a:prstDash val="solid"/>
            <a:round/>
            <a:headEnd len="sm" w="sm" type="none"/>
            <a:tailEnd len="sm" w="sm" type="none"/>
          </a:ln>
        </p:spPr>
      </p:cxnSp>
      <p:sp>
        <p:nvSpPr>
          <p:cNvPr id="231" name="Google Shape;231;p34"/>
          <p:cNvSpPr/>
          <p:nvPr/>
        </p:nvSpPr>
        <p:spPr>
          <a:xfrm rot="10800000">
            <a:off x="2389489" y="3045830"/>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4"/>
          <p:cNvSpPr txBox="1"/>
          <p:nvPr/>
        </p:nvSpPr>
        <p:spPr>
          <a:xfrm>
            <a:off x="494650" y="3214600"/>
            <a:ext cx="1987200" cy="1170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lt1"/>
                </a:solidFill>
                <a:latin typeface="Roboto"/>
                <a:ea typeface="Roboto"/>
                <a:cs typeface="Roboto"/>
                <a:sym typeface="Roboto"/>
              </a:rPr>
              <a:t>Streamlit Proof of Concept</a:t>
            </a:r>
            <a:endParaRPr b="1" sz="1100">
              <a:solidFill>
                <a:schemeClr val="lt1"/>
              </a:solidFill>
              <a:latin typeface="Roboto"/>
              <a:ea typeface="Roboto"/>
              <a:cs typeface="Roboto"/>
              <a:sym typeface="Roboto"/>
            </a:endParaRPr>
          </a:p>
          <a:p>
            <a:pPr indent="0" lvl="0" marL="0" rtl="0" algn="r">
              <a:spcBef>
                <a:spcPts val="0"/>
              </a:spcBef>
              <a:spcAft>
                <a:spcPts val="0"/>
              </a:spcAft>
              <a:buNone/>
            </a:pPr>
            <a:r>
              <a:t/>
            </a:r>
            <a:endParaRPr b="1" sz="1100">
              <a:solidFill>
                <a:schemeClr val="lt1"/>
              </a:solidFill>
              <a:latin typeface="Roboto"/>
              <a:ea typeface="Roboto"/>
              <a:cs typeface="Roboto"/>
              <a:sym typeface="Roboto"/>
            </a:endParaRPr>
          </a:p>
          <a:p>
            <a:pPr indent="0" lvl="0" marL="0" rtl="0" algn="r">
              <a:spcBef>
                <a:spcPts val="0"/>
              </a:spcBef>
              <a:spcAft>
                <a:spcPts val="1600"/>
              </a:spcAft>
              <a:buNone/>
            </a:pPr>
            <a:r>
              <a:rPr lang="en" sz="1100">
                <a:solidFill>
                  <a:schemeClr val="lt2"/>
                </a:solidFill>
                <a:latin typeface="Roboto"/>
                <a:ea typeface="Roboto"/>
                <a:cs typeface="Roboto"/>
                <a:sym typeface="Roboto"/>
              </a:rPr>
              <a:t>Review and understand datasets that Bedrock has. Come up with a reasonable splitting strategy. Demo streamlit app on held out data. </a:t>
            </a:r>
            <a:endParaRPr b="1" sz="1100">
              <a:solidFill>
                <a:schemeClr val="lt2"/>
              </a:solidFill>
              <a:latin typeface="Roboto"/>
              <a:ea typeface="Roboto"/>
              <a:cs typeface="Roboto"/>
              <a:sym typeface="Roboto"/>
            </a:endParaRPr>
          </a:p>
        </p:txBody>
      </p:sp>
      <p:pic>
        <p:nvPicPr>
          <p:cNvPr id="233" name="Google Shape;233;p34"/>
          <p:cNvPicPr preferRelativeResize="0"/>
          <p:nvPr/>
        </p:nvPicPr>
        <p:blipFill rotWithShape="1">
          <a:blip r:embed="rId3">
            <a:alphaModFix/>
          </a:blip>
          <a:srcRect b="0" l="0" r="0" t="0"/>
          <a:stretch/>
        </p:blipFill>
        <p:spPr>
          <a:xfrm>
            <a:off x="0" y="4924800"/>
            <a:ext cx="1268396" cy="218700"/>
          </a:xfrm>
          <a:prstGeom prst="rect">
            <a:avLst/>
          </a:prstGeom>
          <a:noFill/>
          <a:ln>
            <a:noFill/>
          </a:ln>
        </p:spPr>
      </p:pic>
      <p:pic>
        <p:nvPicPr>
          <p:cNvPr id="234" name="Google Shape;234;p34"/>
          <p:cNvPicPr preferRelativeResize="0"/>
          <p:nvPr/>
        </p:nvPicPr>
        <p:blipFill rotWithShape="1">
          <a:blip r:embed="rId4">
            <a:alphaModFix/>
          </a:blip>
          <a:srcRect b="31678" l="24496" r="23129" t="29348"/>
          <a:stretch/>
        </p:blipFill>
        <p:spPr>
          <a:xfrm>
            <a:off x="1683525" y="1258552"/>
            <a:ext cx="1268400" cy="943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p:nvPr/>
        </p:nvSpPr>
        <p:spPr>
          <a:xfrm>
            <a:off x="4389718" y="2726412"/>
            <a:ext cx="1958400" cy="133500"/>
          </a:xfrm>
          <a:prstGeom prst="rect">
            <a:avLst/>
          </a:prstGeom>
          <a:solidFill>
            <a:srgbClr val="307A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 name="Google Shape;240;p35"/>
          <p:cNvGrpSpPr/>
          <p:nvPr/>
        </p:nvGrpSpPr>
        <p:grpSpPr>
          <a:xfrm>
            <a:off x="4348732" y="2447002"/>
            <a:ext cx="92400" cy="411825"/>
            <a:chOff x="845575" y="2563700"/>
            <a:chExt cx="92400" cy="411825"/>
          </a:xfrm>
        </p:grpSpPr>
        <p:cxnSp>
          <p:nvCxnSpPr>
            <p:cNvPr id="241" name="Google Shape;241;p35"/>
            <p:cNvCxnSpPr/>
            <p:nvPr/>
          </p:nvCxnSpPr>
          <p:spPr>
            <a:xfrm>
              <a:off x="891775" y="2616125"/>
              <a:ext cx="0" cy="359400"/>
            </a:xfrm>
            <a:prstGeom prst="straightConnector1">
              <a:avLst/>
            </a:prstGeom>
            <a:noFill/>
            <a:ln cap="flat" cmpd="sng" w="9525">
              <a:solidFill>
                <a:schemeClr val="lt1"/>
              </a:solidFill>
              <a:prstDash val="solid"/>
              <a:round/>
              <a:headEnd len="sm" w="sm" type="none"/>
              <a:tailEnd len="sm" w="sm" type="none"/>
            </a:ln>
          </p:spPr>
        </p:cxnSp>
        <p:sp>
          <p:nvSpPr>
            <p:cNvPr id="242" name="Google Shape;242;p35"/>
            <p:cNvSpPr/>
            <p:nvPr/>
          </p:nvSpPr>
          <p:spPr>
            <a:xfrm>
              <a:off x="845575" y="2563700"/>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 name="Google Shape;243;p35"/>
          <p:cNvSpPr txBox="1"/>
          <p:nvPr/>
        </p:nvSpPr>
        <p:spPr>
          <a:xfrm>
            <a:off x="3533399" y="2906325"/>
            <a:ext cx="9069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b="1" lang="en" sz="1300">
                <a:solidFill>
                  <a:schemeClr val="lt1"/>
                </a:solidFill>
                <a:latin typeface="Roboto"/>
                <a:ea typeface="Roboto"/>
                <a:cs typeface="Roboto"/>
                <a:sym typeface="Roboto"/>
              </a:rPr>
              <a:t>Q1 2026</a:t>
            </a:r>
            <a:endParaRPr b="1" sz="1300">
              <a:solidFill>
                <a:schemeClr val="lt1"/>
              </a:solidFill>
              <a:latin typeface="Roboto"/>
              <a:ea typeface="Roboto"/>
              <a:cs typeface="Roboto"/>
              <a:sym typeface="Roboto"/>
            </a:endParaRPr>
          </a:p>
        </p:txBody>
      </p:sp>
      <p:sp>
        <p:nvSpPr>
          <p:cNvPr id="244" name="Google Shape;244;p35"/>
          <p:cNvSpPr txBox="1"/>
          <p:nvPr/>
        </p:nvSpPr>
        <p:spPr>
          <a:xfrm>
            <a:off x="2379925" y="1208113"/>
            <a:ext cx="2061300" cy="943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lt1"/>
                </a:solidFill>
                <a:latin typeface="Roboto"/>
                <a:ea typeface="Roboto"/>
                <a:cs typeface="Roboto"/>
                <a:sym typeface="Roboto"/>
              </a:rPr>
              <a:t>Pipeline on Platform Demo</a:t>
            </a:r>
            <a:endParaRPr b="1" sz="1100">
              <a:solidFill>
                <a:schemeClr val="lt1"/>
              </a:solidFill>
              <a:latin typeface="Roboto"/>
              <a:ea typeface="Roboto"/>
              <a:cs typeface="Roboto"/>
              <a:sym typeface="Roboto"/>
            </a:endParaRPr>
          </a:p>
          <a:p>
            <a:pPr indent="0" lvl="0" marL="0" rtl="0" algn="r">
              <a:spcBef>
                <a:spcPts val="0"/>
              </a:spcBef>
              <a:spcAft>
                <a:spcPts val="0"/>
              </a:spcAft>
              <a:buNone/>
            </a:pPr>
            <a:r>
              <a:t/>
            </a:r>
            <a:endParaRPr sz="1100">
              <a:solidFill>
                <a:schemeClr val="lt1"/>
              </a:solidFill>
              <a:latin typeface="Roboto"/>
              <a:ea typeface="Roboto"/>
              <a:cs typeface="Roboto"/>
              <a:sym typeface="Roboto"/>
            </a:endParaRPr>
          </a:p>
          <a:p>
            <a:pPr indent="0" lvl="0" marL="0" rtl="0" algn="r">
              <a:spcBef>
                <a:spcPts val="0"/>
              </a:spcBef>
              <a:spcAft>
                <a:spcPts val="1600"/>
              </a:spcAft>
              <a:buNone/>
            </a:pPr>
            <a:r>
              <a:rPr lang="en" sz="1100">
                <a:solidFill>
                  <a:schemeClr val="lt1"/>
                </a:solidFill>
                <a:latin typeface="Roboto"/>
                <a:ea typeface="Roboto"/>
                <a:cs typeface="Roboto"/>
                <a:sym typeface="Roboto"/>
              </a:rPr>
              <a:t>Further model improvements. TensorRT pipeline running on compute platform. Simulate onboard operation.</a:t>
            </a:r>
            <a:endParaRPr sz="1100">
              <a:solidFill>
                <a:schemeClr val="lt1"/>
              </a:solidFill>
              <a:latin typeface="Roboto"/>
              <a:ea typeface="Roboto"/>
              <a:cs typeface="Roboto"/>
              <a:sym typeface="Roboto"/>
            </a:endParaRPr>
          </a:p>
        </p:txBody>
      </p:sp>
      <p:sp>
        <p:nvSpPr>
          <p:cNvPr id="245" name="Google Shape;245;p35"/>
          <p:cNvSpPr/>
          <p:nvPr/>
        </p:nvSpPr>
        <p:spPr>
          <a:xfrm>
            <a:off x="6348065" y="2726412"/>
            <a:ext cx="2349300" cy="133500"/>
          </a:xfrm>
          <a:prstGeom prst="rect">
            <a:avLst/>
          </a:prstGeom>
          <a:solidFill>
            <a:srgbClr val="0942A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5"/>
          <p:cNvSpPr txBox="1"/>
          <p:nvPr/>
        </p:nvSpPr>
        <p:spPr>
          <a:xfrm>
            <a:off x="5439740" y="2896001"/>
            <a:ext cx="9069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b="1" lang="en" sz="1300">
                <a:solidFill>
                  <a:schemeClr val="lt1"/>
                </a:solidFill>
                <a:latin typeface="Roboto"/>
                <a:ea typeface="Roboto"/>
                <a:cs typeface="Roboto"/>
                <a:sym typeface="Roboto"/>
              </a:rPr>
              <a:t>Q2 2026</a:t>
            </a:r>
            <a:endParaRPr b="1" sz="1300">
              <a:solidFill>
                <a:schemeClr val="lt1"/>
              </a:solidFill>
              <a:latin typeface="Roboto"/>
              <a:ea typeface="Roboto"/>
              <a:cs typeface="Roboto"/>
              <a:sym typeface="Roboto"/>
            </a:endParaRPr>
          </a:p>
        </p:txBody>
      </p:sp>
      <p:sp>
        <p:nvSpPr>
          <p:cNvPr id="247" name="Google Shape;247;p35"/>
          <p:cNvSpPr txBox="1"/>
          <p:nvPr/>
        </p:nvSpPr>
        <p:spPr>
          <a:xfrm>
            <a:off x="4788950" y="1208113"/>
            <a:ext cx="1651200" cy="943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lt1"/>
                </a:solidFill>
                <a:latin typeface="Roboto"/>
                <a:ea typeface="Roboto"/>
                <a:cs typeface="Roboto"/>
                <a:sym typeface="Roboto"/>
              </a:rPr>
              <a:t>Pipeline on Vehicle Demo</a:t>
            </a:r>
            <a:endParaRPr b="1" sz="1100">
              <a:solidFill>
                <a:schemeClr val="lt1"/>
              </a:solidFill>
              <a:latin typeface="Roboto"/>
              <a:ea typeface="Roboto"/>
              <a:cs typeface="Roboto"/>
              <a:sym typeface="Roboto"/>
            </a:endParaRPr>
          </a:p>
          <a:p>
            <a:pPr indent="0" lvl="0" marL="0" rtl="0" algn="r">
              <a:spcBef>
                <a:spcPts val="0"/>
              </a:spcBef>
              <a:spcAft>
                <a:spcPts val="0"/>
              </a:spcAft>
              <a:buNone/>
            </a:pPr>
            <a:r>
              <a:t/>
            </a:r>
            <a:endParaRPr sz="1100">
              <a:solidFill>
                <a:schemeClr val="lt1"/>
              </a:solidFill>
              <a:latin typeface="Roboto"/>
              <a:ea typeface="Roboto"/>
              <a:cs typeface="Roboto"/>
              <a:sym typeface="Roboto"/>
            </a:endParaRPr>
          </a:p>
          <a:p>
            <a:pPr indent="0" lvl="0" marL="0" rtl="0" algn="r">
              <a:spcBef>
                <a:spcPts val="0"/>
              </a:spcBef>
              <a:spcAft>
                <a:spcPts val="1600"/>
              </a:spcAft>
              <a:buNone/>
            </a:pPr>
            <a:r>
              <a:rPr lang="en" sz="1100">
                <a:solidFill>
                  <a:schemeClr val="lt1"/>
                </a:solidFill>
                <a:latin typeface="Roboto"/>
                <a:ea typeface="Roboto"/>
                <a:cs typeface="Roboto"/>
                <a:sym typeface="Roboto"/>
              </a:rPr>
              <a:t>End-to-end demo on Bedrock hardware</a:t>
            </a:r>
            <a:endParaRPr sz="1100">
              <a:solidFill>
                <a:schemeClr val="lt1"/>
              </a:solidFill>
              <a:latin typeface="Roboto"/>
              <a:ea typeface="Roboto"/>
              <a:cs typeface="Roboto"/>
              <a:sym typeface="Roboto"/>
            </a:endParaRPr>
          </a:p>
        </p:txBody>
      </p:sp>
      <p:sp>
        <p:nvSpPr>
          <p:cNvPr id="248" name="Google Shape;248;p35"/>
          <p:cNvSpPr/>
          <p:nvPr/>
        </p:nvSpPr>
        <p:spPr>
          <a:xfrm>
            <a:off x="473016" y="2726412"/>
            <a:ext cx="1958400" cy="133500"/>
          </a:xfrm>
          <a:prstGeom prst="rect">
            <a:avLst/>
          </a:prstGeom>
          <a:solidFill>
            <a:srgbClr val="307A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49" name="Google Shape;249;p35"/>
          <p:cNvSpPr txBox="1"/>
          <p:nvPr/>
        </p:nvSpPr>
        <p:spPr>
          <a:xfrm>
            <a:off x="36406" y="2862200"/>
            <a:ext cx="8712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t/>
            </a:r>
            <a:endParaRPr b="1" sz="1200">
              <a:solidFill>
                <a:schemeClr val="lt1"/>
              </a:solidFill>
              <a:latin typeface="Roboto"/>
              <a:ea typeface="Roboto"/>
              <a:cs typeface="Roboto"/>
              <a:sym typeface="Roboto"/>
            </a:endParaRPr>
          </a:p>
        </p:txBody>
      </p:sp>
      <p:sp>
        <p:nvSpPr>
          <p:cNvPr id="250" name="Google Shape;250;p35"/>
          <p:cNvSpPr txBox="1"/>
          <p:nvPr/>
        </p:nvSpPr>
        <p:spPr>
          <a:xfrm>
            <a:off x="363537" y="1427897"/>
            <a:ext cx="22536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t/>
            </a:r>
            <a:endParaRPr sz="800">
              <a:solidFill>
                <a:schemeClr val="lt1"/>
              </a:solidFill>
              <a:latin typeface="Roboto"/>
              <a:ea typeface="Roboto"/>
              <a:cs typeface="Roboto"/>
              <a:sym typeface="Roboto"/>
            </a:endParaRPr>
          </a:p>
        </p:txBody>
      </p:sp>
      <p:sp>
        <p:nvSpPr>
          <p:cNvPr id="251" name="Google Shape;251;p35"/>
          <p:cNvSpPr/>
          <p:nvPr/>
        </p:nvSpPr>
        <p:spPr>
          <a:xfrm>
            <a:off x="2431368" y="2726412"/>
            <a:ext cx="1958400" cy="133500"/>
          </a:xfrm>
          <a:prstGeom prst="rect">
            <a:avLst/>
          </a:prstGeom>
          <a:solidFill>
            <a:srgbClr val="0942A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5"/>
          <p:cNvSpPr txBox="1"/>
          <p:nvPr/>
        </p:nvSpPr>
        <p:spPr>
          <a:xfrm>
            <a:off x="1539891" y="2325523"/>
            <a:ext cx="8496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en" sz="1300">
                <a:solidFill>
                  <a:schemeClr val="dk2"/>
                </a:solidFill>
                <a:latin typeface="Roboto"/>
                <a:ea typeface="Roboto"/>
                <a:cs typeface="Roboto"/>
                <a:sym typeface="Roboto"/>
              </a:rPr>
              <a:t>Q4 2025</a:t>
            </a:r>
            <a:endParaRPr b="1" sz="1300">
              <a:solidFill>
                <a:schemeClr val="dk2"/>
              </a:solidFill>
              <a:latin typeface="Roboto"/>
              <a:ea typeface="Roboto"/>
              <a:cs typeface="Roboto"/>
              <a:sym typeface="Roboto"/>
            </a:endParaRPr>
          </a:p>
          <a:p>
            <a:pPr indent="0" lvl="0" marL="0" rtl="0" algn="r">
              <a:lnSpc>
                <a:spcPct val="115000"/>
              </a:lnSpc>
              <a:spcBef>
                <a:spcPts val="1600"/>
              </a:spcBef>
              <a:spcAft>
                <a:spcPts val="1600"/>
              </a:spcAft>
              <a:buNone/>
            </a:pPr>
            <a:r>
              <a:t/>
            </a:r>
            <a:endParaRPr b="1" sz="1300">
              <a:solidFill>
                <a:schemeClr val="dk2"/>
              </a:solidFill>
              <a:latin typeface="Roboto"/>
              <a:ea typeface="Roboto"/>
              <a:cs typeface="Roboto"/>
              <a:sym typeface="Roboto"/>
            </a:endParaRPr>
          </a:p>
        </p:txBody>
      </p:sp>
      <p:cxnSp>
        <p:nvCxnSpPr>
          <p:cNvPr id="253" name="Google Shape;253;p35"/>
          <p:cNvCxnSpPr/>
          <p:nvPr/>
        </p:nvCxnSpPr>
        <p:spPr>
          <a:xfrm rot="10800000">
            <a:off x="2435689" y="2726404"/>
            <a:ext cx="0" cy="359400"/>
          </a:xfrm>
          <a:prstGeom prst="straightConnector1">
            <a:avLst/>
          </a:prstGeom>
          <a:noFill/>
          <a:ln cap="flat" cmpd="sng" w="9525">
            <a:solidFill>
              <a:schemeClr val="lt1"/>
            </a:solidFill>
            <a:prstDash val="solid"/>
            <a:round/>
            <a:headEnd len="sm" w="sm" type="none"/>
            <a:tailEnd len="sm" w="sm" type="none"/>
          </a:ln>
        </p:spPr>
      </p:cxnSp>
      <p:sp>
        <p:nvSpPr>
          <p:cNvPr id="254" name="Google Shape;254;p35"/>
          <p:cNvSpPr/>
          <p:nvPr/>
        </p:nvSpPr>
        <p:spPr>
          <a:xfrm rot="10800000">
            <a:off x="2389489" y="3045830"/>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5"/>
          <p:cNvSpPr txBox="1"/>
          <p:nvPr/>
        </p:nvSpPr>
        <p:spPr>
          <a:xfrm>
            <a:off x="494650" y="3214600"/>
            <a:ext cx="1987200" cy="1170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dk2"/>
                </a:solidFill>
                <a:latin typeface="Roboto"/>
                <a:ea typeface="Roboto"/>
                <a:cs typeface="Roboto"/>
                <a:sym typeface="Roboto"/>
              </a:rPr>
              <a:t>Streamlit Proof of Concept</a:t>
            </a:r>
            <a:endParaRPr b="1" sz="1100">
              <a:solidFill>
                <a:schemeClr val="dk2"/>
              </a:solidFill>
              <a:latin typeface="Roboto"/>
              <a:ea typeface="Roboto"/>
              <a:cs typeface="Roboto"/>
              <a:sym typeface="Roboto"/>
            </a:endParaRPr>
          </a:p>
          <a:p>
            <a:pPr indent="0" lvl="0" marL="0" rtl="0" algn="r">
              <a:spcBef>
                <a:spcPts val="0"/>
              </a:spcBef>
              <a:spcAft>
                <a:spcPts val="0"/>
              </a:spcAft>
              <a:buNone/>
            </a:pPr>
            <a:r>
              <a:t/>
            </a:r>
            <a:endParaRPr b="1" sz="1100">
              <a:solidFill>
                <a:schemeClr val="dk2"/>
              </a:solidFill>
              <a:latin typeface="Roboto"/>
              <a:ea typeface="Roboto"/>
              <a:cs typeface="Roboto"/>
              <a:sym typeface="Roboto"/>
            </a:endParaRPr>
          </a:p>
          <a:p>
            <a:pPr indent="0" lvl="0" marL="0" rtl="0" algn="r">
              <a:spcBef>
                <a:spcPts val="0"/>
              </a:spcBef>
              <a:spcAft>
                <a:spcPts val="1600"/>
              </a:spcAft>
              <a:buNone/>
            </a:pPr>
            <a:r>
              <a:rPr lang="en" sz="1100">
                <a:solidFill>
                  <a:schemeClr val="dk2"/>
                </a:solidFill>
                <a:latin typeface="Roboto"/>
                <a:ea typeface="Roboto"/>
                <a:cs typeface="Roboto"/>
                <a:sym typeface="Roboto"/>
              </a:rPr>
              <a:t>Review and understand datasets that Bedrock has. Come up with a reasonable splitting strategy. Demo streamlit app on held out data. </a:t>
            </a:r>
            <a:endParaRPr b="1" sz="1100">
              <a:solidFill>
                <a:schemeClr val="dk2"/>
              </a:solidFill>
              <a:latin typeface="Roboto"/>
              <a:ea typeface="Roboto"/>
              <a:cs typeface="Roboto"/>
              <a:sym typeface="Roboto"/>
            </a:endParaRPr>
          </a:p>
        </p:txBody>
      </p:sp>
      <p:cxnSp>
        <p:nvCxnSpPr>
          <p:cNvPr id="256" name="Google Shape;256;p35"/>
          <p:cNvCxnSpPr/>
          <p:nvPr/>
        </p:nvCxnSpPr>
        <p:spPr>
          <a:xfrm>
            <a:off x="8696737" y="2361267"/>
            <a:ext cx="0" cy="359400"/>
          </a:xfrm>
          <a:prstGeom prst="straightConnector1">
            <a:avLst/>
          </a:prstGeom>
          <a:no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cxnSp>
      <p:sp>
        <p:nvSpPr>
          <p:cNvPr id="257" name="Google Shape;257;p35"/>
          <p:cNvSpPr/>
          <p:nvPr/>
        </p:nvSpPr>
        <p:spPr>
          <a:xfrm>
            <a:off x="8650537" y="2308842"/>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5"/>
          <p:cNvSpPr txBox="1"/>
          <p:nvPr/>
        </p:nvSpPr>
        <p:spPr>
          <a:xfrm>
            <a:off x="7848829" y="2877625"/>
            <a:ext cx="9069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b="1" lang="en" sz="1300">
                <a:solidFill>
                  <a:schemeClr val="lt1"/>
                </a:solidFill>
                <a:latin typeface="Roboto"/>
                <a:ea typeface="Roboto"/>
                <a:cs typeface="Roboto"/>
                <a:sym typeface="Roboto"/>
              </a:rPr>
              <a:t>Q3 2026</a:t>
            </a:r>
            <a:endParaRPr b="1" sz="1300">
              <a:solidFill>
                <a:schemeClr val="lt1"/>
              </a:solidFill>
              <a:latin typeface="Roboto"/>
              <a:ea typeface="Roboto"/>
              <a:cs typeface="Roboto"/>
              <a:sym typeface="Roboto"/>
            </a:endParaRPr>
          </a:p>
        </p:txBody>
      </p:sp>
      <p:sp>
        <p:nvSpPr>
          <p:cNvPr id="259" name="Google Shape;259;p35"/>
          <p:cNvSpPr txBox="1"/>
          <p:nvPr/>
        </p:nvSpPr>
        <p:spPr>
          <a:xfrm>
            <a:off x="6942225" y="1208113"/>
            <a:ext cx="1813500" cy="943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lt1"/>
                </a:solidFill>
                <a:latin typeface="Roboto"/>
                <a:ea typeface="Roboto"/>
                <a:cs typeface="Roboto"/>
                <a:sym typeface="Roboto"/>
              </a:rPr>
              <a:t>Deployment</a:t>
            </a:r>
            <a:endParaRPr b="1" sz="1100">
              <a:solidFill>
                <a:schemeClr val="lt1"/>
              </a:solidFill>
              <a:latin typeface="Roboto"/>
              <a:ea typeface="Roboto"/>
              <a:cs typeface="Roboto"/>
              <a:sym typeface="Roboto"/>
            </a:endParaRPr>
          </a:p>
          <a:p>
            <a:pPr indent="0" lvl="0" marL="0" rtl="0" algn="r">
              <a:spcBef>
                <a:spcPts val="0"/>
              </a:spcBef>
              <a:spcAft>
                <a:spcPts val="0"/>
              </a:spcAft>
              <a:buNone/>
            </a:pPr>
            <a:r>
              <a:t/>
            </a:r>
            <a:endParaRPr b="1" sz="1100">
              <a:solidFill>
                <a:schemeClr val="lt1"/>
              </a:solidFill>
              <a:latin typeface="Roboto"/>
              <a:ea typeface="Roboto"/>
              <a:cs typeface="Roboto"/>
              <a:sym typeface="Roboto"/>
            </a:endParaRPr>
          </a:p>
          <a:p>
            <a:pPr indent="0" lvl="0" marL="0" rtl="0" algn="r">
              <a:spcBef>
                <a:spcPts val="0"/>
              </a:spcBef>
              <a:spcAft>
                <a:spcPts val="1600"/>
              </a:spcAft>
              <a:buNone/>
            </a:pPr>
            <a:r>
              <a:rPr lang="en" sz="1100">
                <a:solidFill>
                  <a:schemeClr val="lt2"/>
                </a:solidFill>
                <a:latin typeface="Roboto"/>
                <a:ea typeface="Roboto"/>
                <a:cs typeface="Roboto"/>
                <a:sym typeface="Roboto"/>
              </a:rPr>
              <a:t>Deploy on Bedrock AUVs for online testing and integration</a:t>
            </a:r>
            <a:endParaRPr b="1" sz="1100">
              <a:solidFill>
                <a:schemeClr val="lt2"/>
              </a:solidFill>
              <a:latin typeface="Roboto"/>
              <a:ea typeface="Roboto"/>
              <a:cs typeface="Roboto"/>
              <a:sym typeface="Roboto"/>
            </a:endParaRPr>
          </a:p>
        </p:txBody>
      </p:sp>
      <p:pic>
        <p:nvPicPr>
          <p:cNvPr id="260" name="Google Shape;260;p35"/>
          <p:cNvPicPr preferRelativeResize="0"/>
          <p:nvPr/>
        </p:nvPicPr>
        <p:blipFill rotWithShape="1">
          <a:blip r:embed="rId3">
            <a:alphaModFix/>
          </a:blip>
          <a:srcRect b="0" l="0" r="0" t="0"/>
          <a:stretch/>
        </p:blipFill>
        <p:spPr>
          <a:xfrm>
            <a:off x="0" y="4924800"/>
            <a:ext cx="1268396" cy="218700"/>
          </a:xfrm>
          <a:prstGeom prst="rect">
            <a:avLst/>
          </a:prstGeom>
          <a:noFill/>
          <a:ln>
            <a:noFill/>
          </a:ln>
        </p:spPr>
      </p:pic>
      <p:grpSp>
        <p:nvGrpSpPr>
          <p:cNvPr id="261" name="Google Shape;261;p35"/>
          <p:cNvGrpSpPr/>
          <p:nvPr/>
        </p:nvGrpSpPr>
        <p:grpSpPr>
          <a:xfrm>
            <a:off x="6304582" y="2427077"/>
            <a:ext cx="92400" cy="411825"/>
            <a:chOff x="845575" y="2563700"/>
            <a:chExt cx="92400" cy="411825"/>
          </a:xfrm>
        </p:grpSpPr>
        <p:cxnSp>
          <p:nvCxnSpPr>
            <p:cNvPr id="262" name="Google Shape;262;p35"/>
            <p:cNvCxnSpPr/>
            <p:nvPr/>
          </p:nvCxnSpPr>
          <p:spPr>
            <a:xfrm>
              <a:off x="891775" y="2616125"/>
              <a:ext cx="0" cy="359400"/>
            </a:xfrm>
            <a:prstGeom prst="straightConnector1">
              <a:avLst/>
            </a:prstGeom>
            <a:noFill/>
            <a:ln cap="flat" cmpd="sng" w="9525">
              <a:solidFill>
                <a:schemeClr val="lt1"/>
              </a:solidFill>
              <a:prstDash val="solid"/>
              <a:round/>
              <a:headEnd len="sm" w="sm" type="none"/>
              <a:tailEnd len="sm" w="sm" type="none"/>
            </a:ln>
          </p:spPr>
        </p:cxnSp>
        <p:sp>
          <p:nvSpPr>
            <p:cNvPr id="263" name="Google Shape;263;p35"/>
            <p:cNvSpPr/>
            <p:nvPr/>
          </p:nvSpPr>
          <p:spPr>
            <a:xfrm>
              <a:off x="845575" y="2563700"/>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35"/>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Next Steps: Bring ATR to AUVs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p:nvPr/>
        </p:nvSpPr>
        <p:spPr>
          <a:xfrm>
            <a:off x="4389718" y="2726412"/>
            <a:ext cx="1958400" cy="133500"/>
          </a:xfrm>
          <a:prstGeom prst="rect">
            <a:avLst/>
          </a:prstGeom>
          <a:solidFill>
            <a:srgbClr val="307A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36"/>
          <p:cNvGrpSpPr/>
          <p:nvPr/>
        </p:nvGrpSpPr>
        <p:grpSpPr>
          <a:xfrm>
            <a:off x="4348732" y="2447002"/>
            <a:ext cx="92400" cy="411825"/>
            <a:chOff x="845575" y="2563700"/>
            <a:chExt cx="92400" cy="411825"/>
          </a:xfrm>
        </p:grpSpPr>
        <p:cxnSp>
          <p:nvCxnSpPr>
            <p:cNvPr id="271" name="Google Shape;271;p36"/>
            <p:cNvCxnSpPr/>
            <p:nvPr/>
          </p:nvCxnSpPr>
          <p:spPr>
            <a:xfrm>
              <a:off x="891775" y="2616125"/>
              <a:ext cx="0" cy="359400"/>
            </a:xfrm>
            <a:prstGeom prst="straightConnector1">
              <a:avLst/>
            </a:prstGeom>
            <a:noFill/>
            <a:ln cap="flat" cmpd="sng" w="9525">
              <a:solidFill>
                <a:schemeClr val="lt1"/>
              </a:solidFill>
              <a:prstDash val="solid"/>
              <a:round/>
              <a:headEnd len="sm" w="sm" type="none"/>
              <a:tailEnd len="sm" w="sm" type="none"/>
            </a:ln>
          </p:spPr>
        </p:cxnSp>
        <p:sp>
          <p:nvSpPr>
            <p:cNvPr id="272" name="Google Shape;272;p36"/>
            <p:cNvSpPr/>
            <p:nvPr/>
          </p:nvSpPr>
          <p:spPr>
            <a:xfrm>
              <a:off x="845575" y="2563700"/>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3" name="Google Shape;273;p36"/>
          <p:cNvSpPr txBox="1"/>
          <p:nvPr/>
        </p:nvSpPr>
        <p:spPr>
          <a:xfrm>
            <a:off x="3533399" y="2906325"/>
            <a:ext cx="9069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b="1" lang="en" sz="1300">
                <a:solidFill>
                  <a:schemeClr val="lt1"/>
                </a:solidFill>
                <a:latin typeface="Roboto"/>
                <a:ea typeface="Roboto"/>
                <a:cs typeface="Roboto"/>
                <a:sym typeface="Roboto"/>
              </a:rPr>
              <a:t>Q1 2026</a:t>
            </a:r>
            <a:endParaRPr b="1" sz="1300">
              <a:solidFill>
                <a:schemeClr val="lt1"/>
              </a:solidFill>
              <a:latin typeface="Roboto"/>
              <a:ea typeface="Roboto"/>
              <a:cs typeface="Roboto"/>
              <a:sym typeface="Roboto"/>
            </a:endParaRPr>
          </a:p>
        </p:txBody>
      </p:sp>
      <p:sp>
        <p:nvSpPr>
          <p:cNvPr id="274" name="Google Shape;274;p36"/>
          <p:cNvSpPr txBox="1"/>
          <p:nvPr/>
        </p:nvSpPr>
        <p:spPr>
          <a:xfrm>
            <a:off x="2379925" y="1208113"/>
            <a:ext cx="2061300" cy="943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lt1"/>
                </a:solidFill>
                <a:latin typeface="Roboto"/>
                <a:ea typeface="Roboto"/>
                <a:cs typeface="Roboto"/>
                <a:sym typeface="Roboto"/>
              </a:rPr>
              <a:t>Pipeline on Platform Demo</a:t>
            </a:r>
            <a:endParaRPr b="1" sz="1100">
              <a:solidFill>
                <a:schemeClr val="lt1"/>
              </a:solidFill>
              <a:latin typeface="Roboto"/>
              <a:ea typeface="Roboto"/>
              <a:cs typeface="Roboto"/>
              <a:sym typeface="Roboto"/>
            </a:endParaRPr>
          </a:p>
          <a:p>
            <a:pPr indent="0" lvl="0" marL="0" rtl="0" algn="r">
              <a:spcBef>
                <a:spcPts val="0"/>
              </a:spcBef>
              <a:spcAft>
                <a:spcPts val="0"/>
              </a:spcAft>
              <a:buNone/>
            </a:pPr>
            <a:r>
              <a:t/>
            </a:r>
            <a:endParaRPr sz="1100">
              <a:solidFill>
                <a:schemeClr val="lt1"/>
              </a:solidFill>
              <a:latin typeface="Roboto"/>
              <a:ea typeface="Roboto"/>
              <a:cs typeface="Roboto"/>
              <a:sym typeface="Roboto"/>
            </a:endParaRPr>
          </a:p>
          <a:p>
            <a:pPr indent="0" lvl="0" marL="0" rtl="0" algn="r">
              <a:spcBef>
                <a:spcPts val="0"/>
              </a:spcBef>
              <a:spcAft>
                <a:spcPts val="1600"/>
              </a:spcAft>
              <a:buNone/>
            </a:pPr>
            <a:r>
              <a:rPr lang="en" sz="1100">
                <a:solidFill>
                  <a:schemeClr val="lt1"/>
                </a:solidFill>
                <a:latin typeface="Roboto"/>
                <a:ea typeface="Roboto"/>
                <a:cs typeface="Roboto"/>
                <a:sym typeface="Roboto"/>
              </a:rPr>
              <a:t>Further model improvements. TensorRT pipeline running on compute platform. Simulate onboard operation.</a:t>
            </a:r>
            <a:endParaRPr sz="1100">
              <a:solidFill>
                <a:schemeClr val="lt1"/>
              </a:solidFill>
              <a:latin typeface="Roboto"/>
              <a:ea typeface="Roboto"/>
              <a:cs typeface="Roboto"/>
              <a:sym typeface="Roboto"/>
            </a:endParaRPr>
          </a:p>
        </p:txBody>
      </p:sp>
      <p:sp>
        <p:nvSpPr>
          <p:cNvPr id="275" name="Google Shape;275;p36"/>
          <p:cNvSpPr/>
          <p:nvPr/>
        </p:nvSpPr>
        <p:spPr>
          <a:xfrm>
            <a:off x="6348065" y="2726412"/>
            <a:ext cx="2349300" cy="133500"/>
          </a:xfrm>
          <a:prstGeom prst="rect">
            <a:avLst/>
          </a:prstGeom>
          <a:solidFill>
            <a:srgbClr val="0942A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6"/>
          <p:cNvSpPr txBox="1"/>
          <p:nvPr/>
        </p:nvSpPr>
        <p:spPr>
          <a:xfrm>
            <a:off x="5439740" y="2896001"/>
            <a:ext cx="9069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b="1" lang="en" sz="1300">
                <a:solidFill>
                  <a:schemeClr val="lt1"/>
                </a:solidFill>
                <a:latin typeface="Roboto"/>
                <a:ea typeface="Roboto"/>
                <a:cs typeface="Roboto"/>
                <a:sym typeface="Roboto"/>
              </a:rPr>
              <a:t>Q2 2026</a:t>
            </a:r>
            <a:endParaRPr b="1" sz="1300">
              <a:solidFill>
                <a:schemeClr val="lt1"/>
              </a:solidFill>
              <a:latin typeface="Roboto"/>
              <a:ea typeface="Roboto"/>
              <a:cs typeface="Roboto"/>
              <a:sym typeface="Roboto"/>
            </a:endParaRPr>
          </a:p>
        </p:txBody>
      </p:sp>
      <p:sp>
        <p:nvSpPr>
          <p:cNvPr id="277" name="Google Shape;277;p36"/>
          <p:cNvSpPr txBox="1"/>
          <p:nvPr/>
        </p:nvSpPr>
        <p:spPr>
          <a:xfrm>
            <a:off x="4788950" y="1208113"/>
            <a:ext cx="1651200" cy="943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lt1"/>
                </a:solidFill>
                <a:latin typeface="Roboto"/>
                <a:ea typeface="Roboto"/>
                <a:cs typeface="Roboto"/>
                <a:sym typeface="Roboto"/>
              </a:rPr>
              <a:t>Pipeline on Vehicle Demo</a:t>
            </a:r>
            <a:endParaRPr b="1" sz="1100">
              <a:solidFill>
                <a:schemeClr val="lt1"/>
              </a:solidFill>
              <a:latin typeface="Roboto"/>
              <a:ea typeface="Roboto"/>
              <a:cs typeface="Roboto"/>
              <a:sym typeface="Roboto"/>
            </a:endParaRPr>
          </a:p>
          <a:p>
            <a:pPr indent="0" lvl="0" marL="0" rtl="0" algn="r">
              <a:spcBef>
                <a:spcPts val="0"/>
              </a:spcBef>
              <a:spcAft>
                <a:spcPts val="0"/>
              </a:spcAft>
              <a:buNone/>
            </a:pPr>
            <a:r>
              <a:t/>
            </a:r>
            <a:endParaRPr sz="1100">
              <a:solidFill>
                <a:schemeClr val="lt1"/>
              </a:solidFill>
              <a:latin typeface="Roboto"/>
              <a:ea typeface="Roboto"/>
              <a:cs typeface="Roboto"/>
              <a:sym typeface="Roboto"/>
            </a:endParaRPr>
          </a:p>
          <a:p>
            <a:pPr indent="0" lvl="0" marL="0" rtl="0" algn="r">
              <a:spcBef>
                <a:spcPts val="0"/>
              </a:spcBef>
              <a:spcAft>
                <a:spcPts val="1600"/>
              </a:spcAft>
              <a:buNone/>
            </a:pPr>
            <a:r>
              <a:rPr lang="en" sz="1100">
                <a:solidFill>
                  <a:schemeClr val="lt1"/>
                </a:solidFill>
                <a:latin typeface="Roboto"/>
                <a:ea typeface="Roboto"/>
                <a:cs typeface="Roboto"/>
                <a:sym typeface="Roboto"/>
              </a:rPr>
              <a:t>End-to-end demo on Bedrock hardware</a:t>
            </a:r>
            <a:endParaRPr sz="1100">
              <a:solidFill>
                <a:schemeClr val="lt1"/>
              </a:solidFill>
              <a:latin typeface="Roboto"/>
              <a:ea typeface="Roboto"/>
              <a:cs typeface="Roboto"/>
              <a:sym typeface="Roboto"/>
            </a:endParaRPr>
          </a:p>
        </p:txBody>
      </p:sp>
      <p:sp>
        <p:nvSpPr>
          <p:cNvPr id="278" name="Google Shape;278;p36"/>
          <p:cNvSpPr/>
          <p:nvPr/>
        </p:nvSpPr>
        <p:spPr>
          <a:xfrm>
            <a:off x="473016" y="2726412"/>
            <a:ext cx="1958400" cy="133500"/>
          </a:xfrm>
          <a:prstGeom prst="rect">
            <a:avLst/>
          </a:prstGeom>
          <a:solidFill>
            <a:srgbClr val="307AF3"/>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79" name="Google Shape;279;p36"/>
          <p:cNvSpPr txBox="1"/>
          <p:nvPr/>
        </p:nvSpPr>
        <p:spPr>
          <a:xfrm>
            <a:off x="36406" y="2862200"/>
            <a:ext cx="8712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t/>
            </a:r>
            <a:endParaRPr b="1" sz="1200">
              <a:solidFill>
                <a:schemeClr val="lt1"/>
              </a:solidFill>
              <a:latin typeface="Roboto"/>
              <a:ea typeface="Roboto"/>
              <a:cs typeface="Roboto"/>
              <a:sym typeface="Roboto"/>
            </a:endParaRPr>
          </a:p>
        </p:txBody>
      </p:sp>
      <p:sp>
        <p:nvSpPr>
          <p:cNvPr id="280" name="Google Shape;280;p36"/>
          <p:cNvSpPr txBox="1"/>
          <p:nvPr/>
        </p:nvSpPr>
        <p:spPr>
          <a:xfrm>
            <a:off x="363537" y="1427897"/>
            <a:ext cx="22536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t/>
            </a:r>
            <a:endParaRPr sz="800">
              <a:solidFill>
                <a:schemeClr val="lt1"/>
              </a:solidFill>
              <a:latin typeface="Roboto"/>
              <a:ea typeface="Roboto"/>
              <a:cs typeface="Roboto"/>
              <a:sym typeface="Roboto"/>
            </a:endParaRPr>
          </a:p>
        </p:txBody>
      </p:sp>
      <p:sp>
        <p:nvSpPr>
          <p:cNvPr id="281" name="Google Shape;281;p36"/>
          <p:cNvSpPr/>
          <p:nvPr/>
        </p:nvSpPr>
        <p:spPr>
          <a:xfrm>
            <a:off x="2431368" y="2726412"/>
            <a:ext cx="1958400" cy="133500"/>
          </a:xfrm>
          <a:prstGeom prst="rect">
            <a:avLst/>
          </a:prstGeom>
          <a:solidFill>
            <a:srgbClr val="0942A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6"/>
          <p:cNvSpPr txBox="1"/>
          <p:nvPr/>
        </p:nvSpPr>
        <p:spPr>
          <a:xfrm>
            <a:off x="1539891" y="2325523"/>
            <a:ext cx="8496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en" sz="1300">
                <a:solidFill>
                  <a:schemeClr val="dk2"/>
                </a:solidFill>
                <a:latin typeface="Roboto"/>
                <a:ea typeface="Roboto"/>
                <a:cs typeface="Roboto"/>
                <a:sym typeface="Roboto"/>
              </a:rPr>
              <a:t>Q4 2025</a:t>
            </a:r>
            <a:endParaRPr b="1" sz="1300">
              <a:solidFill>
                <a:schemeClr val="dk2"/>
              </a:solidFill>
              <a:latin typeface="Roboto"/>
              <a:ea typeface="Roboto"/>
              <a:cs typeface="Roboto"/>
              <a:sym typeface="Roboto"/>
            </a:endParaRPr>
          </a:p>
          <a:p>
            <a:pPr indent="0" lvl="0" marL="0" rtl="0" algn="r">
              <a:lnSpc>
                <a:spcPct val="115000"/>
              </a:lnSpc>
              <a:spcBef>
                <a:spcPts val="1600"/>
              </a:spcBef>
              <a:spcAft>
                <a:spcPts val="1600"/>
              </a:spcAft>
              <a:buNone/>
            </a:pPr>
            <a:r>
              <a:t/>
            </a:r>
            <a:endParaRPr b="1" sz="1300">
              <a:solidFill>
                <a:schemeClr val="dk2"/>
              </a:solidFill>
              <a:latin typeface="Roboto"/>
              <a:ea typeface="Roboto"/>
              <a:cs typeface="Roboto"/>
              <a:sym typeface="Roboto"/>
            </a:endParaRPr>
          </a:p>
        </p:txBody>
      </p:sp>
      <p:cxnSp>
        <p:nvCxnSpPr>
          <p:cNvPr id="283" name="Google Shape;283;p36"/>
          <p:cNvCxnSpPr/>
          <p:nvPr/>
        </p:nvCxnSpPr>
        <p:spPr>
          <a:xfrm rot="10800000">
            <a:off x="2435689" y="2726404"/>
            <a:ext cx="0" cy="359400"/>
          </a:xfrm>
          <a:prstGeom prst="straightConnector1">
            <a:avLst/>
          </a:prstGeom>
          <a:noFill/>
          <a:ln cap="flat" cmpd="sng" w="9525">
            <a:solidFill>
              <a:schemeClr val="lt1"/>
            </a:solidFill>
            <a:prstDash val="solid"/>
            <a:round/>
            <a:headEnd len="sm" w="sm" type="none"/>
            <a:tailEnd len="sm" w="sm" type="none"/>
          </a:ln>
        </p:spPr>
      </p:cxnSp>
      <p:sp>
        <p:nvSpPr>
          <p:cNvPr id="284" name="Google Shape;284;p36"/>
          <p:cNvSpPr/>
          <p:nvPr/>
        </p:nvSpPr>
        <p:spPr>
          <a:xfrm rot="10800000">
            <a:off x="2389489" y="3045830"/>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6"/>
          <p:cNvSpPr txBox="1"/>
          <p:nvPr/>
        </p:nvSpPr>
        <p:spPr>
          <a:xfrm>
            <a:off x="494650" y="3214600"/>
            <a:ext cx="1987200" cy="1170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dk2"/>
                </a:solidFill>
                <a:latin typeface="Roboto"/>
                <a:ea typeface="Roboto"/>
                <a:cs typeface="Roboto"/>
                <a:sym typeface="Roboto"/>
              </a:rPr>
              <a:t>Streamlit Proof of Concept</a:t>
            </a:r>
            <a:endParaRPr b="1" sz="1100">
              <a:solidFill>
                <a:schemeClr val="dk2"/>
              </a:solidFill>
              <a:latin typeface="Roboto"/>
              <a:ea typeface="Roboto"/>
              <a:cs typeface="Roboto"/>
              <a:sym typeface="Roboto"/>
            </a:endParaRPr>
          </a:p>
          <a:p>
            <a:pPr indent="0" lvl="0" marL="0" rtl="0" algn="r">
              <a:spcBef>
                <a:spcPts val="0"/>
              </a:spcBef>
              <a:spcAft>
                <a:spcPts val="0"/>
              </a:spcAft>
              <a:buNone/>
            </a:pPr>
            <a:r>
              <a:t/>
            </a:r>
            <a:endParaRPr b="1" sz="1100">
              <a:solidFill>
                <a:schemeClr val="dk2"/>
              </a:solidFill>
              <a:latin typeface="Roboto"/>
              <a:ea typeface="Roboto"/>
              <a:cs typeface="Roboto"/>
              <a:sym typeface="Roboto"/>
            </a:endParaRPr>
          </a:p>
          <a:p>
            <a:pPr indent="0" lvl="0" marL="0" rtl="0" algn="r">
              <a:spcBef>
                <a:spcPts val="0"/>
              </a:spcBef>
              <a:spcAft>
                <a:spcPts val="1600"/>
              </a:spcAft>
              <a:buNone/>
            </a:pPr>
            <a:r>
              <a:rPr lang="en" sz="1100">
                <a:solidFill>
                  <a:schemeClr val="dk2"/>
                </a:solidFill>
                <a:latin typeface="Roboto"/>
                <a:ea typeface="Roboto"/>
                <a:cs typeface="Roboto"/>
                <a:sym typeface="Roboto"/>
              </a:rPr>
              <a:t>Review and understand datasets that Bedrock has. Come up with a reasonable splitting strategy. Demo streamlit app on held out data. </a:t>
            </a:r>
            <a:endParaRPr b="1" sz="1100">
              <a:solidFill>
                <a:schemeClr val="dk2"/>
              </a:solidFill>
              <a:latin typeface="Roboto"/>
              <a:ea typeface="Roboto"/>
              <a:cs typeface="Roboto"/>
              <a:sym typeface="Roboto"/>
            </a:endParaRPr>
          </a:p>
        </p:txBody>
      </p:sp>
      <p:cxnSp>
        <p:nvCxnSpPr>
          <p:cNvPr id="286" name="Google Shape;286;p36"/>
          <p:cNvCxnSpPr/>
          <p:nvPr/>
        </p:nvCxnSpPr>
        <p:spPr>
          <a:xfrm>
            <a:off x="8696737" y="2361267"/>
            <a:ext cx="0" cy="359400"/>
          </a:xfrm>
          <a:prstGeom prst="straightConnector1">
            <a:avLst/>
          </a:prstGeom>
          <a:no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cxnSp>
      <p:sp>
        <p:nvSpPr>
          <p:cNvPr id="287" name="Google Shape;287;p36"/>
          <p:cNvSpPr/>
          <p:nvPr/>
        </p:nvSpPr>
        <p:spPr>
          <a:xfrm>
            <a:off x="8650537" y="2308842"/>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6"/>
          <p:cNvSpPr txBox="1"/>
          <p:nvPr/>
        </p:nvSpPr>
        <p:spPr>
          <a:xfrm>
            <a:off x="7848829" y="2877625"/>
            <a:ext cx="906900" cy="371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b="1" lang="en" sz="1300">
                <a:solidFill>
                  <a:schemeClr val="lt1"/>
                </a:solidFill>
                <a:latin typeface="Roboto"/>
                <a:ea typeface="Roboto"/>
                <a:cs typeface="Roboto"/>
                <a:sym typeface="Roboto"/>
              </a:rPr>
              <a:t>Q3 2026</a:t>
            </a:r>
            <a:endParaRPr b="1" sz="1300">
              <a:solidFill>
                <a:schemeClr val="lt1"/>
              </a:solidFill>
              <a:latin typeface="Roboto"/>
              <a:ea typeface="Roboto"/>
              <a:cs typeface="Roboto"/>
              <a:sym typeface="Roboto"/>
            </a:endParaRPr>
          </a:p>
        </p:txBody>
      </p:sp>
      <p:sp>
        <p:nvSpPr>
          <p:cNvPr id="289" name="Google Shape;289;p36"/>
          <p:cNvSpPr txBox="1"/>
          <p:nvPr/>
        </p:nvSpPr>
        <p:spPr>
          <a:xfrm>
            <a:off x="6942225" y="1208113"/>
            <a:ext cx="1813500" cy="943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r">
              <a:spcBef>
                <a:spcPts val="0"/>
              </a:spcBef>
              <a:spcAft>
                <a:spcPts val="0"/>
              </a:spcAft>
              <a:buNone/>
            </a:pPr>
            <a:r>
              <a:rPr b="1" lang="en" sz="1100">
                <a:solidFill>
                  <a:schemeClr val="lt1"/>
                </a:solidFill>
                <a:latin typeface="Roboto"/>
                <a:ea typeface="Roboto"/>
                <a:cs typeface="Roboto"/>
                <a:sym typeface="Roboto"/>
              </a:rPr>
              <a:t>Deployment</a:t>
            </a:r>
            <a:endParaRPr b="1" sz="1100">
              <a:solidFill>
                <a:schemeClr val="lt1"/>
              </a:solidFill>
              <a:latin typeface="Roboto"/>
              <a:ea typeface="Roboto"/>
              <a:cs typeface="Roboto"/>
              <a:sym typeface="Roboto"/>
            </a:endParaRPr>
          </a:p>
          <a:p>
            <a:pPr indent="0" lvl="0" marL="0" rtl="0" algn="r">
              <a:spcBef>
                <a:spcPts val="0"/>
              </a:spcBef>
              <a:spcAft>
                <a:spcPts val="0"/>
              </a:spcAft>
              <a:buNone/>
            </a:pPr>
            <a:r>
              <a:t/>
            </a:r>
            <a:endParaRPr b="1" sz="1100">
              <a:solidFill>
                <a:schemeClr val="lt1"/>
              </a:solidFill>
              <a:latin typeface="Roboto"/>
              <a:ea typeface="Roboto"/>
              <a:cs typeface="Roboto"/>
              <a:sym typeface="Roboto"/>
            </a:endParaRPr>
          </a:p>
          <a:p>
            <a:pPr indent="0" lvl="0" marL="0" rtl="0" algn="r">
              <a:spcBef>
                <a:spcPts val="0"/>
              </a:spcBef>
              <a:spcAft>
                <a:spcPts val="1600"/>
              </a:spcAft>
              <a:buNone/>
            </a:pPr>
            <a:r>
              <a:rPr lang="en" sz="1100">
                <a:solidFill>
                  <a:schemeClr val="lt2"/>
                </a:solidFill>
                <a:latin typeface="Roboto"/>
                <a:ea typeface="Roboto"/>
                <a:cs typeface="Roboto"/>
                <a:sym typeface="Roboto"/>
              </a:rPr>
              <a:t>Deploy on Bedrock AUVs for online testing and integration</a:t>
            </a:r>
            <a:endParaRPr b="1" sz="1100">
              <a:solidFill>
                <a:schemeClr val="lt2"/>
              </a:solidFill>
              <a:latin typeface="Roboto"/>
              <a:ea typeface="Roboto"/>
              <a:cs typeface="Roboto"/>
              <a:sym typeface="Roboto"/>
            </a:endParaRPr>
          </a:p>
        </p:txBody>
      </p:sp>
      <p:pic>
        <p:nvPicPr>
          <p:cNvPr id="290" name="Google Shape;290;p36"/>
          <p:cNvPicPr preferRelativeResize="0"/>
          <p:nvPr/>
        </p:nvPicPr>
        <p:blipFill rotWithShape="1">
          <a:blip r:embed="rId3">
            <a:alphaModFix/>
          </a:blip>
          <a:srcRect b="0" l="0" r="0" t="0"/>
          <a:stretch/>
        </p:blipFill>
        <p:spPr>
          <a:xfrm>
            <a:off x="0" y="4924800"/>
            <a:ext cx="1268396" cy="218700"/>
          </a:xfrm>
          <a:prstGeom prst="rect">
            <a:avLst/>
          </a:prstGeom>
          <a:noFill/>
          <a:ln>
            <a:noFill/>
          </a:ln>
        </p:spPr>
      </p:pic>
      <p:grpSp>
        <p:nvGrpSpPr>
          <p:cNvPr id="291" name="Google Shape;291;p36"/>
          <p:cNvGrpSpPr/>
          <p:nvPr/>
        </p:nvGrpSpPr>
        <p:grpSpPr>
          <a:xfrm>
            <a:off x="6304582" y="2427077"/>
            <a:ext cx="92400" cy="411825"/>
            <a:chOff x="845575" y="2563700"/>
            <a:chExt cx="92400" cy="411825"/>
          </a:xfrm>
        </p:grpSpPr>
        <p:cxnSp>
          <p:nvCxnSpPr>
            <p:cNvPr id="292" name="Google Shape;292;p36"/>
            <p:cNvCxnSpPr/>
            <p:nvPr/>
          </p:nvCxnSpPr>
          <p:spPr>
            <a:xfrm>
              <a:off x="891775" y="2616125"/>
              <a:ext cx="0" cy="359400"/>
            </a:xfrm>
            <a:prstGeom prst="straightConnector1">
              <a:avLst/>
            </a:prstGeom>
            <a:noFill/>
            <a:ln cap="flat" cmpd="sng" w="9525">
              <a:solidFill>
                <a:schemeClr val="lt1"/>
              </a:solidFill>
              <a:prstDash val="solid"/>
              <a:round/>
              <a:headEnd len="sm" w="sm" type="none"/>
              <a:tailEnd len="sm" w="sm" type="none"/>
            </a:ln>
          </p:spPr>
        </p:cxnSp>
        <p:sp>
          <p:nvSpPr>
            <p:cNvPr id="293" name="Google Shape;293;p36"/>
            <p:cNvSpPr/>
            <p:nvPr/>
          </p:nvSpPr>
          <p:spPr>
            <a:xfrm>
              <a:off x="845575" y="2563700"/>
              <a:ext cx="92400" cy="92400"/>
            </a:xfrm>
            <a:prstGeom prst="ellipse">
              <a:avLst/>
            </a:prstGeom>
            <a:solidFill>
              <a:srgbClr val="00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 name="Google Shape;294;p36"/>
          <p:cNvSpPr txBox="1"/>
          <p:nvPr/>
        </p:nvSpPr>
        <p:spPr>
          <a:xfrm>
            <a:off x="3031650" y="3468875"/>
            <a:ext cx="5723100" cy="11700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rgbClr val="1AFF9D"/>
                </a:solidFill>
                <a:latin typeface="Poppins"/>
                <a:ea typeface="Poppins"/>
                <a:cs typeface="Poppins"/>
                <a:sym typeface="Poppins"/>
              </a:rPr>
              <a:t>Continued Partnership:</a:t>
            </a:r>
            <a:endParaRPr sz="1700">
              <a:solidFill>
                <a:srgbClr val="1AFF9D"/>
              </a:solidFill>
              <a:latin typeface="Poppins"/>
              <a:ea typeface="Poppins"/>
              <a:cs typeface="Poppins"/>
              <a:sym typeface="Poppins"/>
            </a:endParaRPr>
          </a:p>
          <a:p>
            <a:pPr indent="0" lvl="0" marL="0" rtl="0" algn="l">
              <a:spcBef>
                <a:spcPts val="0"/>
              </a:spcBef>
              <a:spcAft>
                <a:spcPts val="0"/>
              </a:spcAft>
              <a:buNone/>
            </a:pPr>
            <a:r>
              <a:rPr lang="en" sz="1700">
                <a:solidFill>
                  <a:schemeClr val="lt1"/>
                </a:solidFill>
                <a:latin typeface="Poppins"/>
                <a:ea typeface="Poppins"/>
                <a:cs typeface="Poppins"/>
                <a:sym typeface="Poppins"/>
              </a:rPr>
              <a:t>→ BRX to be </a:t>
            </a:r>
            <a:r>
              <a:rPr lang="en" sz="1700">
                <a:solidFill>
                  <a:srgbClr val="1AFF9D"/>
                </a:solidFill>
                <a:latin typeface="Poppins"/>
                <a:ea typeface="Poppins"/>
                <a:cs typeface="Poppins"/>
                <a:sym typeface="Poppins"/>
              </a:rPr>
              <a:t>only </a:t>
            </a:r>
            <a:r>
              <a:rPr lang="en" sz="1700">
                <a:solidFill>
                  <a:schemeClr val="lt1"/>
                </a:solidFill>
                <a:latin typeface="Poppins"/>
                <a:ea typeface="Poppins"/>
                <a:cs typeface="Poppins"/>
                <a:sym typeface="Poppins"/>
              </a:rPr>
              <a:t>AUV company with </a:t>
            </a:r>
            <a:r>
              <a:rPr lang="en" sz="1700">
                <a:solidFill>
                  <a:srgbClr val="1AFF9D"/>
                </a:solidFill>
                <a:latin typeface="Poppins"/>
                <a:ea typeface="Poppins"/>
                <a:cs typeface="Poppins"/>
                <a:sym typeface="Poppins"/>
              </a:rPr>
              <a:t>onboard ATR</a:t>
            </a:r>
            <a:endParaRPr sz="1700">
              <a:solidFill>
                <a:srgbClr val="1AFF9D"/>
              </a:solidFill>
              <a:latin typeface="Poppins"/>
              <a:ea typeface="Poppins"/>
              <a:cs typeface="Poppins"/>
              <a:sym typeface="Poppins"/>
            </a:endParaRPr>
          </a:p>
          <a:p>
            <a:pPr indent="0" lvl="0" marL="0" rtl="0" algn="l">
              <a:spcBef>
                <a:spcPts val="0"/>
              </a:spcBef>
              <a:spcAft>
                <a:spcPts val="0"/>
              </a:spcAft>
              <a:buNone/>
            </a:pPr>
            <a:r>
              <a:rPr lang="en" sz="1700">
                <a:solidFill>
                  <a:schemeClr val="lt1"/>
                </a:solidFill>
                <a:latin typeface="Poppins"/>
                <a:ea typeface="Poppins"/>
                <a:cs typeface="Poppins"/>
                <a:sym typeface="Poppins"/>
              </a:rPr>
              <a:t>→ Target onboard POC for </a:t>
            </a:r>
            <a:r>
              <a:rPr lang="en" sz="1700">
                <a:solidFill>
                  <a:srgbClr val="1AFF9D"/>
                </a:solidFill>
                <a:latin typeface="Poppins"/>
                <a:ea typeface="Poppins"/>
                <a:cs typeface="Poppins"/>
                <a:sym typeface="Poppins"/>
              </a:rPr>
              <a:t>REPMUS</a:t>
            </a:r>
            <a:endParaRPr sz="1700">
              <a:solidFill>
                <a:srgbClr val="1AFF9D"/>
              </a:solidFill>
              <a:latin typeface="Poppins"/>
              <a:ea typeface="Poppins"/>
              <a:cs typeface="Poppins"/>
              <a:sym typeface="Poppins"/>
            </a:endParaRPr>
          </a:p>
        </p:txBody>
      </p:sp>
      <p:sp>
        <p:nvSpPr>
          <p:cNvPr id="295" name="Google Shape;295;p36"/>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Next Steps: Bring ATR to AUVs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723"/>
        </a:solidFill>
      </p:bgPr>
    </p:bg>
    <p:spTree>
      <p:nvGrpSpPr>
        <p:cNvPr id="299" name="Shape 299"/>
        <p:cNvGrpSpPr/>
        <p:nvPr/>
      </p:nvGrpSpPr>
      <p:grpSpPr>
        <a:xfrm>
          <a:off x="0" y="0"/>
          <a:ext cx="0" cy="0"/>
          <a:chOff x="0" y="0"/>
          <a:chExt cx="0" cy="0"/>
        </a:xfrm>
      </p:grpSpPr>
      <p:sp>
        <p:nvSpPr>
          <p:cNvPr id="300" name="Google Shape;300;p37"/>
          <p:cNvSpPr txBox="1"/>
          <p:nvPr>
            <p:ph type="title"/>
          </p:nvPr>
        </p:nvSpPr>
        <p:spPr>
          <a:xfrm>
            <a:off x="3541320" y="2093645"/>
            <a:ext cx="5280900" cy="827700"/>
          </a:xfrm>
          <a:prstGeom prst="rect">
            <a:avLst/>
          </a:prstGeom>
        </p:spPr>
        <p:txBody>
          <a:bodyPr anchorCtr="0" anchor="ctr" bIns="86450" lIns="86450" spcFirstLastPara="1" rIns="86450" wrap="square" tIns="86450">
            <a:noAutofit/>
          </a:bodyPr>
          <a:lstStyle/>
          <a:p>
            <a:pPr indent="0" lvl="0" marL="0" rtl="0" algn="l">
              <a:spcBef>
                <a:spcPts val="0"/>
              </a:spcBef>
              <a:spcAft>
                <a:spcPts val="0"/>
              </a:spcAft>
              <a:buNone/>
            </a:pPr>
            <a:r>
              <a:rPr lang="en"/>
              <a:t>Appendix</a:t>
            </a:r>
            <a:endParaRPr/>
          </a:p>
        </p:txBody>
      </p:sp>
      <p:sp>
        <p:nvSpPr>
          <p:cNvPr id="301" name="Google Shape;301;p37"/>
          <p:cNvSpPr txBox="1"/>
          <p:nvPr>
            <p:ph idx="1" type="subTitle"/>
          </p:nvPr>
        </p:nvSpPr>
        <p:spPr>
          <a:xfrm rot="-5400000">
            <a:off x="-972475" y="2367500"/>
            <a:ext cx="2758200" cy="347400"/>
          </a:xfrm>
          <a:prstGeom prst="rect">
            <a:avLst/>
          </a:prstGeom>
        </p:spPr>
        <p:txBody>
          <a:bodyPr anchorCtr="0" anchor="ctr" bIns="86450" lIns="86450" spcFirstLastPara="1" rIns="86450" wrap="square" tIns="86450">
            <a:noAutofit/>
          </a:bodyPr>
          <a:lstStyle/>
          <a:p>
            <a:pPr indent="0" lvl="0" marL="0" rtl="0" algn="ctr">
              <a:spcBef>
                <a:spcPts val="0"/>
              </a:spcBef>
              <a:spcAft>
                <a:spcPts val="0"/>
              </a:spcAft>
              <a:buNone/>
            </a:pPr>
            <a:r>
              <a:rPr lang="en"/>
              <a:t>January• 2026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38"/>
          <p:cNvPicPr preferRelativeResize="0"/>
          <p:nvPr/>
        </p:nvPicPr>
        <p:blipFill>
          <a:blip r:embed="rId3">
            <a:alphaModFix/>
          </a:blip>
          <a:stretch>
            <a:fillRect/>
          </a:stretch>
        </p:blipFill>
        <p:spPr>
          <a:xfrm>
            <a:off x="59355" y="249059"/>
            <a:ext cx="8891325" cy="4645376"/>
          </a:xfrm>
          <a:prstGeom prst="rect">
            <a:avLst/>
          </a:prstGeom>
          <a:noFill/>
          <a:ln>
            <a:noFill/>
          </a:ln>
        </p:spPr>
      </p:pic>
      <p:sp>
        <p:nvSpPr>
          <p:cNvPr id="307" name="Google Shape;307;p38"/>
          <p:cNvSpPr txBox="1"/>
          <p:nvPr/>
        </p:nvSpPr>
        <p:spPr>
          <a:xfrm>
            <a:off x="2527325" y="1398683"/>
            <a:ext cx="3553200" cy="922500"/>
          </a:xfrm>
          <a:prstGeom prst="rect">
            <a:avLst/>
          </a:prstGeom>
          <a:noFill/>
          <a:ln>
            <a:noFill/>
          </a:ln>
        </p:spPr>
        <p:txBody>
          <a:bodyPr anchorCtr="0" anchor="t" bIns="94000" lIns="94000" spcFirstLastPara="1" rIns="94000" wrap="square" tIns="94000">
            <a:spAutoFit/>
          </a:bodyPr>
          <a:lstStyle/>
          <a:p>
            <a:pPr indent="0" lvl="0" marL="0" rtl="0" algn="l">
              <a:lnSpc>
                <a:spcPct val="115000"/>
              </a:lnSpc>
              <a:spcBef>
                <a:spcPts val="1234"/>
              </a:spcBef>
              <a:spcAft>
                <a:spcPts val="0"/>
              </a:spcAft>
              <a:buNone/>
            </a:pPr>
            <a:r>
              <a:rPr b="1" lang="en" sz="1131">
                <a:solidFill>
                  <a:srgbClr val="00FF00"/>
                </a:solidFill>
              </a:rPr>
              <a:t>3 min swath processed in &lt; 1 sec on a Jetson Nano</a:t>
            </a:r>
            <a:endParaRPr b="1" sz="1131">
              <a:solidFill>
                <a:srgbClr val="00FF00"/>
              </a:solidFill>
            </a:endParaRPr>
          </a:p>
          <a:p>
            <a:pPr indent="0" lvl="0" marL="0" rtl="0" algn="l">
              <a:lnSpc>
                <a:spcPct val="115000"/>
              </a:lnSpc>
              <a:spcBef>
                <a:spcPts val="1234"/>
              </a:spcBef>
              <a:spcAft>
                <a:spcPts val="1234"/>
              </a:spcAft>
              <a:buNone/>
            </a:pPr>
            <a:r>
              <a:rPr b="1" lang="en" sz="1131">
                <a:solidFill>
                  <a:srgbClr val="00FF00"/>
                </a:solidFill>
              </a:rPr>
              <a:t>Great recall (&gt;80%) → gets better with more data</a:t>
            </a:r>
            <a:endParaRPr b="1" sz="1131">
              <a:solidFill>
                <a:srgbClr val="00FF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9"/>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Dataset Overview</a:t>
            </a:r>
            <a:endParaRPr/>
          </a:p>
        </p:txBody>
      </p:sp>
      <p:sp>
        <p:nvSpPr>
          <p:cNvPr id="313" name="Google Shape;313;p39"/>
          <p:cNvSpPr txBox="1"/>
          <p:nvPr/>
        </p:nvSpPr>
        <p:spPr>
          <a:xfrm>
            <a:off x="311700" y="1051175"/>
            <a:ext cx="3518700" cy="3283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700">
                <a:solidFill>
                  <a:schemeClr val="lt1"/>
                </a:solidFill>
              </a:rPr>
              <a:t>Dataset Composition</a:t>
            </a:r>
            <a:endParaRPr b="1" sz="1700">
              <a:solidFill>
                <a:schemeClr val="lt1"/>
              </a:solidFill>
            </a:endParaRPr>
          </a:p>
          <a:p>
            <a:pPr indent="0" lvl="0" marL="0" rtl="0" algn="l">
              <a:lnSpc>
                <a:spcPct val="115000"/>
              </a:lnSpc>
              <a:spcBef>
                <a:spcPts val="1200"/>
              </a:spcBef>
              <a:spcAft>
                <a:spcPts val="0"/>
              </a:spcAft>
              <a:buNone/>
            </a:pPr>
            <a:r>
              <a:rPr b="1" lang="en" sz="1100">
                <a:solidFill>
                  <a:schemeClr val="lt1"/>
                </a:solidFill>
              </a:rPr>
              <a:t>Total Raw Files:</a:t>
            </a:r>
            <a:r>
              <a:rPr lang="en" sz="1100">
                <a:solidFill>
                  <a:schemeClr val="lt1"/>
                </a:solidFill>
              </a:rPr>
              <a:t> ~400 XTF files (side-scan sonar images)</a:t>
            </a:r>
            <a:endParaRPr sz="1100">
              <a:solidFill>
                <a:schemeClr val="lt1"/>
              </a:solidFill>
            </a:endParaRPr>
          </a:p>
          <a:p>
            <a:pPr indent="0" lvl="0" marL="0" rtl="0" algn="l">
              <a:lnSpc>
                <a:spcPct val="115000"/>
              </a:lnSpc>
              <a:spcBef>
                <a:spcPts val="1200"/>
              </a:spcBef>
              <a:spcAft>
                <a:spcPts val="0"/>
              </a:spcAft>
              <a:buNone/>
            </a:pPr>
            <a:r>
              <a:rPr b="1" lang="en" sz="1100">
                <a:solidFill>
                  <a:schemeClr val="lt1"/>
                </a:solidFill>
              </a:rPr>
              <a:t>Estimated Split (80/10/10):</a:t>
            </a:r>
            <a:endParaRPr b="1"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en" sz="1100">
                <a:solidFill>
                  <a:schemeClr val="lt1"/>
                </a:solidFill>
              </a:rPr>
              <a:t>Training: ~320 images</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Validation: ~40 images</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Testing: ~40 images</a:t>
            </a:r>
            <a:endParaRPr sz="1100">
              <a:solidFill>
                <a:schemeClr val="lt1"/>
              </a:solidFill>
            </a:endParaRPr>
          </a:p>
          <a:p>
            <a:pPr indent="0" lvl="0" marL="0" rtl="0" algn="l">
              <a:lnSpc>
                <a:spcPct val="115000"/>
              </a:lnSpc>
              <a:spcBef>
                <a:spcPts val="1200"/>
              </a:spcBef>
              <a:spcAft>
                <a:spcPts val="0"/>
              </a:spcAft>
              <a:buNone/>
            </a:pPr>
            <a:r>
              <a:rPr b="1" lang="en" sz="1100">
                <a:solidFill>
                  <a:schemeClr val="lt1"/>
                </a:solidFill>
              </a:rPr>
              <a:t>Estimated Coverage:</a:t>
            </a:r>
            <a:endParaRPr b="1" sz="1100">
              <a:solidFill>
                <a:schemeClr val="lt1"/>
              </a:solidFill>
            </a:endParaRPr>
          </a:p>
          <a:p>
            <a:pPr indent="-298450" lvl="0" marL="457200" rtl="0" algn="l">
              <a:lnSpc>
                <a:spcPct val="115000"/>
              </a:lnSpc>
              <a:spcBef>
                <a:spcPts val="1200"/>
              </a:spcBef>
              <a:spcAft>
                <a:spcPts val="0"/>
              </a:spcAft>
              <a:buClr>
                <a:schemeClr val="lt1"/>
              </a:buClr>
              <a:buSzPts val="1100"/>
              <a:buChar char="●"/>
            </a:pPr>
            <a:r>
              <a:rPr lang="en" sz="1100">
                <a:solidFill>
                  <a:schemeClr val="lt1"/>
                </a:solidFill>
              </a:rPr>
              <a:t>~80 images (~20%) contain labeled contact points</a:t>
            </a:r>
            <a:endParaRPr sz="1100">
              <a:solidFill>
                <a:schemeClr val="lt1"/>
              </a:solidFil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rPr>
              <a:t>~320 images (~80%) represent background/negative examples</a:t>
            </a:r>
            <a:endParaRPr sz="1100">
              <a:solidFill>
                <a:schemeClr val="lt1"/>
              </a:solidFill>
            </a:endParaRPr>
          </a:p>
          <a:p>
            <a:pPr indent="0" lvl="0" marL="0" rtl="0" algn="l">
              <a:spcBef>
                <a:spcPts val="1200"/>
              </a:spcBef>
              <a:spcAft>
                <a:spcPts val="0"/>
              </a:spcAft>
              <a:buNone/>
            </a:pPr>
            <a:r>
              <a:t/>
            </a:r>
            <a:endParaRPr sz="1700">
              <a:solidFill>
                <a:schemeClr val="lt1"/>
              </a:solidFill>
              <a:latin typeface="Poppins"/>
              <a:ea typeface="Poppins"/>
              <a:cs typeface="Poppins"/>
              <a:sym typeface="Poppins"/>
            </a:endParaRPr>
          </a:p>
        </p:txBody>
      </p:sp>
      <p:pic>
        <p:nvPicPr>
          <p:cNvPr id="314" name="Google Shape;314;p39"/>
          <p:cNvPicPr preferRelativeResize="0"/>
          <p:nvPr/>
        </p:nvPicPr>
        <p:blipFill>
          <a:blip r:embed="rId3">
            <a:alphaModFix/>
          </a:blip>
          <a:stretch>
            <a:fillRect/>
          </a:stretch>
        </p:blipFill>
        <p:spPr>
          <a:xfrm>
            <a:off x="4658375" y="994625"/>
            <a:ext cx="3267825" cy="2068225"/>
          </a:xfrm>
          <a:prstGeom prst="rect">
            <a:avLst/>
          </a:prstGeom>
          <a:noFill/>
          <a:ln>
            <a:noFill/>
          </a:ln>
        </p:spPr>
      </p:pic>
      <p:sp>
        <p:nvSpPr>
          <p:cNvPr id="315" name="Google Shape;315;p39"/>
          <p:cNvSpPr txBox="1"/>
          <p:nvPr/>
        </p:nvSpPr>
        <p:spPr>
          <a:xfrm>
            <a:off x="4658375" y="3198550"/>
            <a:ext cx="4319400" cy="159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solidFill>
                  <a:schemeClr val="lt1"/>
                </a:solidFill>
              </a:rPr>
              <a:t>Key Notes</a:t>
            </a:r>
            <a:endParaRPr b="1">
              <a:solidFill>
                <a:schemeClr val="lt1"/>
              </a:solidFill>
            </a:endParaRPr>
          </a:p>
          <a:p>
            <a:pPr indent="-292100" lvl="0" marL="457200" rtl="0" algn="l">
              <a:lnSpc>
                <a:spcPct val="115000"/>
              </a:lnSpc>
              <a:spcBef>
                <a:spcPts val="1200"/>
              </a:spcBef>
              <a:spcAft>
                <a:spcPts val="0"/>
              </a:spcAft>
              <a:buClr>
                <a:schemeClr val="lt1"/>
              </a:buClr>
              <a:buSzPts val="1000"/>
              <a:buChar char="●"/>
            </a:pPr>
            <a:r>
              <a:rPr b="1" lang="en" sz="1000">
                <a:solidFill>
                  <a:schemeClr val="lt1"/>
                </a:solidFill>
              </a:rPr>
              <a:t>Class Imbalance:</a:t>
            </a:r>
            <a:r>
              <a:rPr lang="en" sz="1000">
                <a:solidFill>
                  <a:schemeClr val="lt1"/>
                </a:solidFill>
              </a:rPr>
              <a:t> Depression contacts dominate the dataset (79%), presenting potential modeling challenges for minority classes</a:t>
            </a:r>
            <a:endParaRPr b="1" sz="1000">
              <a:solidFill>
                <a:schemeClr val="lt1"/>
              </a:solidFill>
            </a:endParaRPr>
          </a:p>
          <a:p>
            <a:pPr indent="-292100" lvl="0" marL="457200" rtl="0" algn="l">
              <a:lnSpc>
                <a:spcPct val="115000"/>
              </a:lnSpc>
              <a:spcBef>
                <a:spcPts val="0"/>
              </a:spcBef>
              <a:spcAft>
                <a:spcPts val="0"/>
              </a:spcAft>
              <a:buClr>
                <a:schemeClr val="lt1"/>
              </a:buClr>
              <a:buSzPts val="1000"/>
              <a:buChar char="●"/>
            </a:pPr>
            <a:r>
              <a:rPr b="1" lang="en" sz="1000">
                <a:solidFill>
                  <a:schemeClr val="lt1"/>
                </a:solidFill>
              </a:rPr>
              <a:t>Data Quality:</a:t>
            </a:r>
            <a:r>
              <a:rPr lang="en" sz="1000">
                <a:solidFill>
                  <a:schemeClr val="lt1"/>
                </a:solidFill>
              </a:rPr>
              <a:t> Metrics derived from processed SSS contact CSVs and visible polygon areas in shapefiles/mosaics</a:t>
            </a:r>
            <a:endParaRPr sz="1000">
              <a:solidFill>
                <a:schemeClr val="lt1"/>
              </a:solidFill>
            </a:endParaRPr>
          </a:p>
          <a:p>
            <a:pPr indent="0" lvl="0" marL="0" rtl="0" algn="l">
              <a:lnSpc>
                <a:spcPct val="115000"/>
              </a:lnSpc>
              <a:spcBef>
                <a:spcPts val="1200"/>
              </a:spcBef>
              <a:spcAft>
                <a:spcPts val="0"/>
              </a:spcAft>
              <a:buNone/>
            </a:pPr>
            <a:r>
              <a:t/>
            </a:r>
            <a:endParaRPr sz="1000">
              <a:solidFill>
                <a:schemeClr val="lt1"/>
              </a:solidFill>
            </a:endParaRPr>
          </a:p>
          <a:p>
            <a:pPr indent="0" lvl="0" marL="0" rtl="0" algn="l">
              <a:spcBef>
                <a:spcPts val="1200"/>
              </a:spcBef>
              <a:spcAft>
                <a:spcPts val="0"/>
              </a:spcAft>
              <a:buNone/>
            </a:pPr>
            <a:r>
              <a:t/>
            </a:r>
            <a:endParaRPr b="1">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0"/>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EDA - Well Defined Contacts</a:t>
            </a:r>
            <a:endParaRPr/>
          </a:p>
        </p:txBody>
      </p:sp>
      <p:pic>
        <p:nvPicPr>
          <p:cNvPr id="321" name="Google Shape;321;p40"/>
          <p:cNvPicPr preferRelativeResize="0"/>
          <p:nvPr/>
        </p:nvPicPr>
        <p:blipFill>
          <a:blip r:embed="rId3">
            <a:alphaModFix/>
          </a:blip>
          <a:stretch>
            <a:fillRect/>
          </a:stretch>
        </p:blipFill>
        <p:spPr>
          <a:xfrm>
            <a:off x="3461475" y="1636000"/>
            <a:ext cx="2686050" cy="2667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1"/>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EDA - Missing Contacts</a:t>
            </a:r>
            <a:endParaRPr/>
          </a:p>
        </p:txBody>
      </p:sp>
      <p:pic>
        <p:nvPicPr>
          <p:cNvPr id="327" name="Google Shape;327;p41"/>
          <p:cNvPicPr preferRelativeResize="0"/>
          <p:nvPr/>
        </p:nvPicPr>
        <p:blipFill>
          <a:blip r:embed="rId3">
            <a:alphaModFix/>
          </a:blip>
          <a:stretch>
            <a:fillRect/>
          </a:stretch>
        </p:blipFill>
        <p:spPr>
          <a:xfrm>
            <a:off x="3230000" y="1411650"/>
            <a:ext cx="2762250" cy="2771775"/>
          </a:xfrm>
          <a:prstGeom prst="rect">
            <a:avLst/>
          </a:prstGeom>
          <a:noFill/>
          <a:ln>
            <a:noFill/>
          </a:ln>
        </p:spPr>
      </p:pic>
      <p:sp>
        <p:nvSpPr>
          <p:cNvPr id="328" name="Google Shape;328;p41"/>
          <p:cNvSpPr/>
          <p:nvPr/>
        </p:nvSpPr>
        <p:spPr>
          <a:xfrm flipH="1" rot="8705341">
            <a:off x="5049029" y="2688406"/>
            <a:ext cx="695086" cy="248842"/>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29" name="Google Shape;329;p41"/>
          <p:cNvSpPr/>
          <p:nvPr/>
        </p:nvSpPr>
        <p:spPr>
          <a:xfrm flipH="1" rot="8705341">
            <a:off x="5567204" y="2943231"/>
            <a:ext cx="695086" cy="248842"/>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EDA - Invisible Contacts</a:t>
            </a:r>
            <a:endParaRPr/>
          </a:p>
        </p:txBody>
      </p:sp>
      <p:pic>
        <p:nvPicPr>
          <p:cNvPr id="335" name="Google Shape;335;p42"/>
          <p:cNvPicPr preferRelativeResize="0"/>
          <p:nvPr/>
        </p:nvPicPr>
        <p:blipFill>
          <a:blip r:embed="rId3">
            <a:alphaModFix/>
          </a:blip>
          <a:stretch>
            <a:fillRect/>
          </a:stretch>
        </p:blipFill>
        <p:spPr>
          <a:xfrm>
            <a:off x="3366113" y="1445375"/>
            <a:ext cx="2714625" cy="2790825"/>
          </a:xfrm>
          <a:prstGeom prst="rect">
            <a:avLst/>
          </a:prstGeom>
          <a:noFill/>
          <a:ln>
            <a:noFill/>
          </a:ln>
        </p:spPr>
      </p:pic>
      <p:sp>
        <p:nvSpPr>
          <p:cNvPr id="336" name="Google Shape;336;p42"/>
          <p:cNvSpPr/>
          <p:nvPr/>
        </p:nvSpPr>
        <p:spPr>
          <a:xfrm flipH="1" rot="8705341">
            <a:off x="4786404" y="1802381"/>
            <a:ext cx="695086" cy="248842"/>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37" name="Google Shape;337;p42"/>
          <p:cNvSpPr txBox="1"/>
          <p:nvPr/>
        </p:nvSpPr>
        <p:spPr>
          <a:xfrm>
            <a:off x="6639225" y="1445375"/>
            <a:ext cx="1947600" cy="11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FFFFFF"/>
                </a:solidFill>
                <a:latin typeface="Poppins"/>
                <a:ea typeface="Poppins"/>
                <a:cs typeface="Poppins"/>
                <a:sym typeface="Poppins"/>
              </a:rPr>
              <a:t>Some contacts may not be able to be identified using SSS alone (seen in MBES and/or Mag data)</a:t>
            </a:r>
            <a:endParaRPr sz="1700">
              <a:solidFill>
                <a:srgbClr val="FFFFFF"/>
              </a:solidFill>
              <a:latin typeface="Poppins"/>
              <a:ea typeface="Poppins"/>
              <a:cs typeface="Poppins"/>
              <a:sym typeface="Poppins"/>
            </a:endParaRPr>
          </a:p>
        </p:txBody>
      </p:sp>
      <p:pic>
        <p:nvPicPr>
          <p:cNvPr id="338" name="Google Shape;338;p42"/>
          <p:cNvPicPr preferRelativeResize="0"/>
          <p:nvPr/>
        </p:nvPicPr>
        <p:blipFill>
          <a:blip r:embed="rId4">
            <a:alphaModFix/>
          </a:blip>
          <a:stretch>
            <a:fillRect/>
          </a:stretch>
        </p:blipFill>
        <p:spPr>
          <a:xfrm>
            <a:off x="481600" y="1440613"/>
            <a:ext cx="2724150" cy="2800350"/>
          </a:xfrm>
          <a:prstGeom prst="rect">
            <a:avLst/>
          </a:prstGeom>
          <a:noFill/>
          <a:ln>
            <a:noFill/>
          </a:ln>
        </p:spPr>
      </p:pic>
      <p:sp>
        <p:nvSpPr>
          <p:cNvPr id="339" name="Google Shape;339;p42"/>
          <p:cNvSpPr/>
          <p:nvPr/>
        </p:nvSpPr>
        <p:spPr>
          <a:xfrm flipH="1" rot="8705341">
            <a:off x="1922554" y="1680581"/>
            <a:ext cx="695086" cy="248842"/>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3"/>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Annotated target is invisible in SSS image</a:t>
            </a:r>
            <a:endParaRPr/>
          </a:p>
        </p:txBody>
      </p:sp>
      <p:sp>
        <p:nvSpPr>
          <p:cNvPr id="345" name="Google Shape;345;p43"/>
          <p:cNvSpPr txBox="1"/>
          <p:nvPr/>
        </p:nvSpPr>
        <p:spPr>
          <a:xfrm>
            <a:off x="6984700" y="2024575"/>
            <a:ext cx="1911000" cy="3253200"/>
          </a:xfrm>
          <a:prstGeom prst="rect">
            <a:avLst/>
          </a:prstGeom>
          <a:noFill/>
          <a:ln>
            <a:noFill/>
          </a:ln>
        </p:spPr>
        <p:txBody>
          <a:bodyPr anchorCtr="0" anchor="t" bIns="91425" lIns="91425" spcFirstLastPara="1" rIns="91425" wrap="square" tIns="91425">
            <a:normAutofit/>
          </a:bodyPr>
          <a:lstStyle/>
          <a:p>
            <a:pPr indent="-304800" lvl="0" marL="457200" rtl="0" algn="l">
              <a:spcBef>
                <a:spcPts val="0"/>
              </a:spcBef>
              <a:spcAft>
                <a:spcPts val="0"/>
              </a:spcAft>
              <a:buClr>
                <a:srgbClr val="FFFFFF"/>
              </a:buClr>
              <a:buSzPts val="1200"/>
              <a:buFont typeface="Poppins"/>
              <a:buChar char="●"/>
            </a:pPr>
            <a:r>
              <a:rPr lang="en" sz="1200">
                <a:solidFill>
                  <a:srgbClr val="FFFFFF"/>
                </a:solidFill>
                <a:latin typeface="Poppins"/>
                <a:ea typeface="Poppins"/>
                <a:cs typeface="Poppins"/>
                <a:sym typeface="Poppins"/>
              </a:rPr>
              <a:t>Red region not visible in SSS</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rPr lang="en" sz="1200">
                <a:solidFill>
                  <a:srgbClr val="FFFFFF"/>
                </a:solidFill>
                <a:latin typeface="Poppins"/>
                <a:ea typeface="Poppins"/>
                <a:cs typeface="Poppins"/>
                <a:sym typeface="Poppins"/>
              </a:rPr>
              <a:t>File: Phase2_AP38_brx-auv-010-sss-20250617T162147Z</a:t>
            </a:r>
            <a:endParaRPr sz="1200">
              <a:solidFill>
                <a:srgbClr val="FFFFFF"/>
              </a:solidFill>
              <a:latin typeface="Poppins"/>
              <a:ea typeface="Poppins"/>
              <a:cs typeface="Poppins"/>
              <a:sym typeface="Poppins"/>
            </a:endParaRPr>
          </a:p>
        </p:txBody>
      </p:sp>
      <p:pic>
        <p:nvPicPr>
          <p:cNvPr id="346" name="Google Shape;346;p43"/>
          <p:cNvPicPr preferRelativeResize="0"/>
          <p:nvPr/>
        </p:nvPicPr>
        <p:blipFill>
          <a:blip r:embed="rId3">
            <a:alphaModFix/>
          </a:blip>
          <a:stretch>
            <a:fillRect/>
          </a:stretch>
        </p:blipFill>
        <p:spPr>
          <a:xfrm>
            <a:off x="413850" y="1085888"/>
            <a:ext cx="6682650" cy="2890524"/>
          </a:xfrm>
          <a:prstGeom prst="rect">
            <a:avLst/>
          </a:prstGeom>
          <a:noFill/>
          <a:ln>
            <a:noFill/>
          </a:ln>
        </p:spPr>
      </p:pic>
      <p:grpSp>
        <p:nvGrpSpPr>
          <p:cNvPr id="347" name="Google Shape;347;p43"/>
          <p:cNvGrpSpPr/>
          <p:nvPr/>
        </p:nvGrpSpPr>
        <p:grpSpPr>
          <a:xfrm>
            <a:off x="7356375" y="1189843"/>
            <a:ext cx="1167651" cy="534861"/>
            <a:chOff x="5860875" y="3729068"/>
            <a:chExt cx="1167651" cy="534861"/>
          </a:xfrm>
        </p:grpSpPr>
        <p:sp>
          <p:nvSpPr>
            <p:cNvPr id="348" name="Google Shape;348;p43"/>
            <p:cNvSpPr/>
            <p:nvPr/>
          </p:nvSpPr>
          <p:spPr>
            <a:xfrm>
              <a:off x="5860875" y="3803486"/>
              <a:ext cx="121800" cy="121800"/>
            </a:xfrm>
            <a:prstGeom prst="ellipse">
              <a:avLst/>
            </a:prstGeom>
            <a:solidFill>
              <a:srgbClr val="00FF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lt1"/>
                </a:solidFill>
                <a:highlight>
                  <a:srgbClr val="000000"/>
                </a:highlight>
                <a:latin typeface="Poppins"/>
                <a:ea typeface="Poppins"/>
                <a:cs typeface="Poppins"/>
                <a:sym typeface="Poppins"/>
              </a:endParaRPr>
            </a:p>
          </p:txBody>
        </p:sp>
        <p:sp>
          <p:nvSpPr>
            <p:cNvPr id="349" name="Google Shape;349;p43"/>
            <p:cNvSpPr/>
            <p:nvPr/>
          </p:nvSpPr>
          <p:spPr>
            <a:xfrm>
              <a:off x="5860875" y="3969425"/>
              <a:ext cx="121800" cy="121800"/>
            </a:xfrm>
            <a:prstGeom prst="ellipse">
              <a:avLst/>
            </a:prstGeom>
            <a:solidFill>
              <a:srgbClr val="0000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lt1"/>
                </a:solidFill>
                <a:highlight>
                  <a:srgbClr val="000000"/>
                </a:highlight>
                <a:latin typeface="Poppins"/>
                <a:ea typeface="Poppins"/>
                <a:cs typeface="Poppins"/>
                <a:sym typeface="Poppins"/>
              </a:endParaRPr>
            </a:p>
          </p:txBody>
        </p:sp>
        <p:sp>
          <p:nvSpPr>
            <p:cNvPr id="350" name="Google Shape;350;p43"/>
            <p:cNvSpPr txBox="1"/>
            <p:nvPr/>
          </p:nvSpPr>
          <p:spPr>
            <a:xfrm>
              <a:off x="5921784" y="3729068"/>
              <a:ext cx="717300" cy="1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Poppins"/>
                  <a:ea typeface="Poppins"/>
                  <a:cs typeface="Poppins"/>
                  <a:sym typeface="Poppins"/>
                </a:rPr>
                <a:t>Bedrock GT</a:t>
              </a:r>
              <a:endParaRPr sz="700">
                <a:solidFill>
                  <a:schemeClr val="lt1"/>
                </a:solidFill>
                <a:latin typeface="Poppins"/>
                <a:ea typeface="Poppins"/>
                <a:cs typeface="Poppins"/>
                <a:sym typeface="Poppins"/>
              </a:endParaRPr>
            </a:p>
          </p:txBody>
        </p:sp>
        <p:sp>
          <p:nvSpPr>
            <p:cNvPr id="351" name="Google Shape;351;p43"/>
            <p:cNvSpPr txBox="1"/>
            <p:nvPr/>
          </p:nvSpPr>
          <p:spPr>
            <a:xfrm>
              <a:off x="5915016" y="3911750"/>
              <a:ext cx="1110000" cy="1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Poppins"/>
                  <a:ea typeface="Poppins"/>
                  <a:cs typeface="Poppins"/>
                  <a:sym typeface="Poppins"/>
                </a:rPr>
                <a:t>Proposed Addition</a:t>
              </a:r>
              <a:endParaRPr sz="700">
                <a:solidFill>
                  <a:schemeClr val="lt1"/>
                </a:solidFill>
                <a:latin typeface="Poppins"/>
                <a:ea typeface="Poppins"/>
                <a:cs typeface="Poppins"/>
                <a:sym typeface="Poppins"/>
              </a:endParaRPr>
            </a:p>
          </p:txBody>
        </p:sp>
        <p:sp>
          <p:nvSpPr>
            <p:cNvPr id="352" name="Google Shape;352;p43"/>
            <p:cNvSpPr/>
            <p:nvPr/>
          </p:nvSpPr>
          <p:spPr>
            <a:xfrm>
              <a:off x="5864384" y="4142128"/>
              <a:ext cx="121800" cy="121800"/>
            </a:xfrm>
            <a:prstGeom prst="ellipse">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lt1"/>
                </a:solidFill>
                <a:highlight>
                  <a:srgbClr val="000000"/>
                </a:highlight>
                <a:latin typeface="Poppins"/>
                <a:ea typeface="Poppins"/>
                <a:cs typeface="Poppins"/>
                <a:sym typeface="Poppins"/>
              </a:endParaRPr>
            </a:p>
          </p:txBody>
        </p:sp>
        <p:sp>
          <p:nvSpPr>
            <p:cNvPr id="353" name="Google Shape;353;p43"/>
            <p:cNvSpPr txBox="1"/>
            <p:nvPr/>
          </p:nvSpPr>
          <p:spPr>
            <a:xfrm>
              <a:off x="5918526" y="4070918"/>
              <a:ext cx="1110000" cy="1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Poppins"/>
                  <a:ea typeface="Poppins"/>
                  <a:cs typeface="Poppins"/>
                  <a:sym typeface="Poppins"/>
                </a:rPr>
                <a:t>Proposed Removal</a:t>
              </a:r>
              <a:endParaRPr sz="700">
                <a:solidFill>
                  <a:schemeClr val="lt1"/>
                </a:solidFill>
                <a:latin typeface="Poppins"/>
                <a:ea typeface="Poppins"/>
                <a:cs typeface="Poppins"/>
                <a:sym typeface="Poppins"/>
              </a:endParaRPr>
            </a:p>
          </p:txBody>
        </p:sp>
      </p:grpSp>
      <p:sp>
        <p:nvSpPr>
          <p:cNvPr id="354" name="Google Shape;354;p43"/>
          <p:cNvSpPr txBox="1"/>
          <p:nvPr/>
        </p:nvSpPr>
        <p:spPr>
          <a:xfrm>
            <a:off x="604684" y="1091492"/>
            <a:ext cx="767400" cy="3372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AB40"/>
                </a:solidFill>
              </a:rPr>
              <a:t>RAW XTF</a:t>
            </a:r>
            <a:endParaRPr sz="1000">
              <a:solidFill>
                <a:srgbClr val="FFAB40"/>
              </a:solidFill>
            </a:endParaRPr>
          </a:p>
        </p:txBody>
      </p:sp>
      <p:sp>
        <p:nvSpPr>
          <p:cNvPr id="355" name="Google Shape;355;p43"/>
          <p:cNvSpPr txBox="1"/>
          <p:nvPr/>
        </p:nvSpPr>
        <p:spPr>
          <a:xfrm>
            <a:off x="604684" y="2526897"/>
            <a:ext cx="1167600" cy="3372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AB40"/>
                </a:solidFill>
              </a:rPr>
              <a:t>Diff Overlay XTF</a:t>
            </a:r>
            <a:endParaRPr sz="1000">
              <a:solidFill>
                <a:srgbClr val="FFAB4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4"/>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Visually similar features are not labelled</a:t>
            </a:r>
            <a:endParaRPr/>
          </a:p>
          <a:p>
            <a:pPr indent="0" lvl="0" marL="0" rtl="0" algn="l">
              <a:spcBef>
                <a:spcPts val="0"/>
              </a:spcBef>
              <a:spcAft>
                <a:spcPts val="0"/>
              </a:spcAft>
              <a:buNone/>
            </a:pPr>
            <a:r>
              <a:t/>
            </a:r>
            <a:endParaRPr/>
          </a:p>
        </p:txBody>
      </p:sp>
      <p:sp>
        <p:nvSpPr>
          <p:cNvPr id="361" name="Google Shape;361;p44"/>
          <p:cNvSpPr txBox="1"/>
          <p:nvPr/>
        </p:nvSpPr>
        <p:spPr>
          <a:xfrm>
            <a:off x="5372325" y="2061274"/>
            <a:ext cx="2839800" cy="2903700"/>
          </a:xfrm>
          <a:prstGeom prst="rect">
            <a:avLst/>
          </a:prstGeom>
          <a:noFill/>
          <a:ln>
            <a:noFill/>
          </a:ln>
        </p:spPr>
        <p:txBody>
          <a:bodyPr anchorCtr="0" anchor="t" bIns="91425" lIns="91425" spcFirstLastPara="1" rIns="91425" wrap="square" tIns="91425">
            <a:normAutofit fontScale="92500" lnSpcReduction="20000"/>
          </a:bodyPr>
          <a:lstStyle/>
          <a:p>
            <a:pPr indent="-305435" lvl="0" marL="457200" rtl="0" algn="l">
              <a:spcBef>
                <a:spcPts val="0"/>
              </a:spcBef>
              <a:spcAft>
                <a:spcPts val="0"/>
              </a:spcAft>
              <a:buClr>
                <a:srgbClr val="FFFFFF"/>
              </a:buClr>
              <a:buSzPct val="100000"/>
              <a:buFont typeface="Poppins"/>
              <a:buChar char="●"/>
            </a:pPr>
            <a:r>
              <a:rPr lang="en" sz="1308">
                <a:solidFill>
                  <a:srgbClr val="FFFFFF"/>
                </a:solidFill>
                <a:latin typeface="Poppins"/>
                <a:ea typeface="Poppins"/>
                <a:cs typeface="Poppins"/>
                <a:sym typeface="Poppins"/>
              </a:rPr>
              <a:t>Red arrow is not visible in SSS.</a:t>
            </a:r>
            <a:endParaRPr sz="1308">
              <a:solidFill>
                <a:srgbClr val="FFFFFF"/>
              </a:solidFill>
              <a:latin typeface="Poppins"/>
              <a:ea typeface="Poppins"/>
              <a:cs typeface="Poppins"/>
              <a:sym typeface="Poppins"/>
            </a:endParaRPr>
          </a:p>
          <a:p>
            <a:pPr indent="0" lvl="0" marL="0" rtl="0" algn="l">
              <a:spcBef>
                <a:spcPts val="0"/>
              </a:spcBef>
              <a:spcAft>
                <a:spcPts val="0"/>
              </a:spcAft>
              <a:buNone/>
            </a:pPr>
            <a:r>
              <a:t/>
            </a:r>
            <a:endParaRPr sz="1308">
              <a:solidFill>
                <a:srgbClr val="FFFFFF"/>
              </a:solidFill>
              <a:latin typeface="Poppins"/>
              <a:ea typeface="Poppins"/>
              <a:cs typeface="Poppins"/>
              <a:sym typeface="Poppins"/>
            </a:endParaRPr>
          </a:p>
          <a:p>
            <a:pPr indent="-305435" lvl="0" marL="457200" rtl="0" algn="l">
              <a:spcBef>
                <a:spcPts val="0"/>
              </a:spcBef>
              <a:spcAft>
                <a:spcPts val="0"/>
              </a:spcAft>
              <a:buClr>
                <a:srgbClr val="FFFFFF"/>
              </a:buClr>
              <a:buSzPct val="100000"/>
              <a:buFont typeface="Poppins"/>
              <a:buChar char="●"/>
            </a:pPr>
            <a:r>
              <a:rPr lang="en" sz="1308">
                <a:solidFill>
                  <a:srgbClr val="FFFFFF"/>
                </a:solidFill>
                <a:latin typeface="Poppins"/>
                <a:ea typeface="Poppins"/>
                <a:cs typeface="Poppins"/>
                <a:sym typeface="Poppins"/>
              </a:rPr>
              <a:t>Green arrow (BRX contact) looks visually similar to blue arrow</a:t>
            </a:r>
            <a:endParaRPr sz="1308">
              <a:solidFill>
                <a:srgbClr val="FFFFFF"/>
              </a:solidFill>
              <a:latin typeface="Poppins"/>
              <a:ea typeface="Poppins"/>
              <a:cs typeface="Poppins"/>
              <a:sym typeface="Poppins"/>
            </a:endParaRPr>
          </a:p>
          <a:p>
            <a:pPr indent="0" lvl="0" marL="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rPr lang="en" sz="1200">
                <a:solidFill>
                  <a:srgbClr val="FFFFFF"/>
                </a:solidFill>
                <a:latin typeface="Poppins"/>
                <a:ea typeface="Poppins"/>
                <a:cs typeface="Poppins"/>
                <a:sym typeface="Poppins"/>
              </a:rPr>
              <a:t>File: Phase1_AL38_brx-auv-006-sss-20250324T011120Z</a:t>
            </a:r>
            <a:endParaRPr sz="1200">
              <a:solidFill>
                <a:srgbClr val="FFFFFF"/>
              </a:solidFill>
              <a:latin typeface="Poppins"/>
              <a:ea typeface="Poppins"/>
              <a:cs typeface="Poppins"/>
              <a:sym typeface="Poppins"/>
            </a:endParaRPr>
          </a:p>
          <a:p>
            <a:pPr indent="0" lvl="0" marL="457200" rtl="0" algn="l">
              <a:spcBef>
                <a:spcPts val="0"/>
              </a:spcBef>
              <a:spcAft>
                <a:spcPts val="0"/>
              </a:spcAft>
              <a:buNone/>
            </a:pPr>
            <a:r>
              <a:rPr lang="en" sz="800"/>
              <a:t>-auv-006-sss-20250324T0</a:t>
            </a:r>
            <a:endParaRPr sz="1200">
              <a:solidFill>
                <a:srgbClr val="FFFFFF"/>
              </a:solidFill>
              <a:latin typeface="Poppins"/>
              <a:ea typeface="Poppins"/>
              <a:cs typeface="Poppins"/>
              <a:sym typeface="Poppins"/>
            </a:endParaRPr>
          </a:p>
        </p:txBody>
      </p:sp>
      <p:grpSp>
        <p:nvGrpSpPr>
          <p:cNvPr id="362" name="Google Shape;362;p44"/>
          <p:cNvGrpSpPr/>
          <p:nvPr/>
        </p:nvGrpSpPr>
        <p:grpSpPr>
          <a:xfrm>
            <a:off x="5801400" y="1342293"/>
            <a:ext cx="1167651" cy="534861"/>
            <a:chOff x="7356375" y="1189843"/>
            <a:chExt cx="1167651" cy="534861"/>
          </a:xfrm>
        </p:grpSpPr>
        <p:sp>
          <p:nvSpPr>
            <p:cNvPr id="363" name="Google Shape;363;p44"/>
            <p:cNvSpPr/>
            <p:nvPr/>
          </p:nvSpPr>
          <p:spPr>
            <a:xfrm>
              <a:off x="7356375" y="1264261"/>
              <a:ext cx="121800" cy="121800"/>
            </a:xfrm>
            <a:prstGeom prst="ellipse">
              <a:avLst/>
            </a:prstGeom>
            <a:solidFill>
              <a:srgbClr val="00FF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lt1"/>
                </a:solidFill>
                <a:highlight>
                  <a:srgbClr val="000000"/>
                </a:highlight>
                <a:latin typeface="Poppins"/>
                <a:ea typeface="Poppins"/>
                <a:cs typeface="Poppins"/>
                <a:sym typeface="Poppins"/>
              </a:endParaRPr>
            </a:p>
          </p:txBody>
        </p:sp>
        <p:sp>
          <p:nvSpPr>
            <p:cNvPr id="364" name="Google Shape;364;p44"/>
            <p:cNvSpPr/>
            <p:nvPr/>
          </p:nvSpPr>
          <p:spPr>
            <a:xfrm>
              <a:off x="7356375" y="1430200"/>
              <a:ext cx="121800" cy="121800"/>
            </a:xfrm>
            <a:prstGeom prst="ellipse">
              <a:avLst/>
            </a:prstGeom>
            <a:solidFill>
              <a:srgbClr val="0000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lt1"/>
                </a:solidFill>
                <a:highlight>
                  <a:srgbClr val="000000"/>
                </a:highlight>
                <a:latin typeface="Poppins"/>
                <a:ea typeface="Poppins"/>
                <a:cs typeface="Poppins"/>
                <a:sym typeface="Poppins"/>
              </a:endParaRPr>
            </a:p>
          </p:txBody>
        </p:sp>
        <p:sp>
          <p:nvSpPr>
            <p:cNvPr id="365" name="Google Shape;365;p44"/>
            <p:cNvSpPr txBox="1"/>
            <p:nvPr/>
          </p:nvSpPr>
          <p:spPr>
            <a:xfrm>
              <a:off x="7417284" y="1189843"/>
              <a:ext cx="717300" cy="1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Poppins"/>
                  <a:ea typeface="Poppins"/>
                  <a:cs typeface="Poppins"/>
                  <a:sym typeface="Poppins"/>
                </a:rPr>
                <a:t>Bedrock GT</a:t>
              </a:r>
              <a:endParaRPr sz="700">
                <a:solidFill>
                  <a:schemeClr val="lt1"/>
                </a:solidFill>
                <a:latin typeface="Poppins"/>
                <a:ea typeface="Poppins"/>
                <a:cs typeface="Poppins"/>
                <a:sym typeface="Poppins"/>
              </a:endParaRPr>
            </a:p>
          </p:txBody>
        </p:sp>
        <p:sp>
          <p:nvSpPr>
            <p:cNvPr id="366" name="Google Shape;366;p44"/>
            <p:cNvSpPr txBox="1"/>
            <p:nvPr/>
          </p:nvSpPr>
          <p:spPr>
            <a:xfrm>
              <a:off x="7410516" y="1372525"/>
              <a:ext cx="1110000" cy="1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Poppins"/>
                  <a:ea typeface="Poppins"/>
                  <a:cs typeface="Poppins"/>
                  <a:sym typeface="Poppins"/>
                </a:rPr>
                <a:t>Proposed Addition</a:t>
              </a:r>
              <a:endParaRPr sz="700">
                <a:solidFill>
                  <a:schemeClr val="lt1"/>
                </a:solidFill>
                <a:latin typeface="Poppins"/>
                <a:ea typeface="Poppins"/>
                <a:cs typeface="Poppins"/>
                <a:sym typeface="Poppins"/>
              </a:endParaRPr>
            </a:p>
          </p:txBody>
        </p:sp>
        <p:sp>
          <p:nvSpPr>
            <p:cNvPr id="367" name="Google Shape;367;p44"/>
            <p:cNvSpPr/>
            <p:nvPr/>
          </p:nvSpPr>
          <p:spPr>
            <a:xfrm>
              <a:off x="7359884" y="1602903"/>
              <a:ext cx="121800" cy="121800"/>
            </a:xfrm>
            <a:prstGeom prst="ellipse">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lt1"/>
                </a:solidFill>
                <a:highlight>
                  <a:srgbClr val="000000"/>
                </a:highlight>
                <a:latin typeface="Poppins"/>
                <a:ea typeface="Poppins"/>
                <a:cs typeface="Poppins"/>
                <a:sym typeface="Poppins"/>
              </a:endParaRPr>
            </a:p>
          </p:txBody>
        </p:sp>
        <p:sp>
          <p:nvSpPr>
            <p:cNvPr id="368" name="Google Shape;368;p44"/>
            <p:cNvSpPr txBox="1"/>
            <p:nvPr/>
          </p:nvSpPr>
          <p:spPr>
            <a:xfrm>
              <a:off x="7414026" y="1531693"/>
              <a:ext cx="1110000" cy="1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lt1"/>
                  </a:solidFill>
                  <a:latin typeface="Poppins"/>
                  <a:ea typeface="Poppins"/>
                  <a:cs typeface="Poppins"/>
                  <a:sym typeface="Poppins"/>
                </a:rPr>
                <a:t>Proposed Removal</a:t>
              </a:r>
              <a:endParaRPr sz="700">
                <a:solidFill>
                  <a:schemeClr val="lt1"/>
                </a:solidFill>
                <a:latin typeface="Poppins"/>
                <a:ea typeface="Poppins"/>
                <a:cs typeface="Poppins"/>
                <a:sym typeface="Poppins"/>
              </a:endParaRPr>
            </a:p>
          </p:txBody>
        </p:sp>
      </p:grpSp>
      <p:grpSp>
        <p:nvGrpSpPr>
          <p:cNvPr id="369" name="Google Shape;369;p44"/>
          <p:cNvGrpSpPr/>
          <p:nvPr/>
        </p:nvGrpSpPr>
        <p:grpSpPr>
          <a:xfrm>
            <a:off x="467700" y="1316525"/>
            <a:ext cx="4594950" cy="2668100"/>
            <a:chOff x="311700" y="1732575"/>
            <a:chExt cx="4594950" cy="2668100"/>
          </a:xfrm>
        </p:grpSpPr>
        <p:pic>
          <p:nvPicPr>
            <p:cNvPr id="370" name="Google Shape;370;p44"/>
            <p:cNvPicPr preferRelativeResize="0"/>
            <p:nvPr/>
          </p:nvPicPr>
          <p:blipFill rotWithShape="1">
            <a:blip r:embed="rId3">
              <a:alphaModFix/>
            </a:blip>
            <a:srcRect b="49499" l="0" r="0" t="2105"/>
            <a:stretch/>
          </p:blipFill>
          <p:spPr>
            <a:xfrm>
              <a:off x="311700" y="1803950"/>
              <a:ext cx="2172350" cy="2596725"/>
            </a:xfrm>
            <a:prstGeom prst="rect">
              <a:avLst/>
            </a:prstGeom>
            <a:noFill/>
            <a:ln>
              <a:noFill/>
            </a:ln>
          </p:spPr>
        </p:pic>
        <p:pic>
          <p:nvPicPr>
            <p:cNvPr id="371" name="Google Shape;371;p44"/>
            <p:cNvPicPr preferRelativeResize="0"/>
            <p:nvPr/>
          </p:nvPicPr>
          <p:blipFill rotWithShape="1">
            <a:blip r:embed="rId3">
              <a:alphaModFix/>
            </a:blip>
            <a:srcRect b="1327" l="0" r="0" t="50415"/>
            <a:stretch/>
          </p:blipFill>
          <p:spPr>
            <a:xfrm>
              <a:off x="2694075" y="1732575"/>
              <a:ext cx="2212575" cy="2596725"/>
            </a:xfrm>
            <a:prstGeom prst="rect">
              <a:avLst/>
            </a:prstGeom>
            <a:noFill/>
            <a:ln>
              <a:noFill/>
            </a:ln>
          </p:spPr>
        </p:pic>
      </p:grpSp>
      <p:sp>
        <p:nvSpPr>
          <p:cNvPr id="372" name="Google Shape;372;p44"/>
          <p:cNvSpPr txBox="1"/>
          <p:nvPr/>
        </p:nvSpPr>
        <p:spPr>
          <a:xfrm>
            <a:off x="467700" y="2529650"/>
            <a:ext cx="7674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AB40"/>
                </a:solidFill>
              </a:rPr>
              <a:t>RAW XTF</a:t>
            </a:r>
            <a:endParaRPr sz="1000">
              <a:solidFill>
                <a:srgbClr val="FFAB40"/>
              </a:solidFill>
            </a:endParaRPr>
          </a:p>
        </p:txBody>
      </p:sp>
      <p:sp>
        <p:nvSpPr>
          <p:cNvPr id="373" name="Google Shape;373;p44"/>
          <p:cNvSpPr txBox="1"/>
          <p:nvPr/>
        </p:nvSpPr>
        <p:spPr>
          <a:xfrm>
            <a:off x="2859925" y="2481975"/>
            <a:ext cx="11676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FFAB40"/>
                </a:solidFill>
              </a:rPr>
              <a:t>Diff Overlay XTF</a:t>
            </a:r>
            <a:endParaRPr sz="1000">
              <a:solidFill>
                <a:srgbClr val="FFAB4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5"/>
          <p:cNvSpPr txBox="1"/>
          <p:nvPr>
            <p:ph type="title"/>
          </p:nvPr>
        </p:nvSpPr>
        <p:spPr>
          <a:xfrm>
            <a:off x="311700" y="478473"/>
            <a:ext cx="8520600" cy="572700"/>
          </a:xfrm>
          <a:prstGeom prst="rect">
            <a:avLst/>
          </a:prstGeom>
        </p:spPr>
        <p:txBody>
          <a:bodyPr anchorCtr="0" anchor="t" bIns="86450" lIns="86450" spcFirstLastPara="1" rIns="86450" wrap="square" tIns="86450">
            <a:noAutofit/>
          </a:bodyPr>
          <a:lstStyle/>
          <a:p>
            <a:pPr indent="0" lvl="0" marL="0" rtl="0" algn="l">
              <a:spcBef>
                <a:spcPts val="0"/>
              </a:spcBef>
              <a:spcAft>
                <a:spcPts val="0"/>
              </a:spcAft>
              <a:buNone/>
            </a:pPr>
            <a:r>
              <a:rPr lang="en"/>
              <a:t>Areas of Improvements: </a:t>
            </a:r>
            <a:endParaRPr/>
          </a:p>
          <a:p>
            <a:pPr indent="0" lvl="0" marL="0" rtl="0" algn="l">
              <a:spcBef>
                <a:spcPts val="0"/>
              </a:spcBef>
              <a:spcAft>
                <a:spcPts val="0"/>
              </a:spcAft>
              <a:buNone/>
            </a:pPr>
            <a:r>
              <a:rPr lang="en"/>
              <a:t>Low Contrast + Sand Ripples</a:t>
            </a:r>
            <a:endParaRPr/>
          </a:p>
        </p:txBody>
      </p:sp>
      <p:sp>
        <p:nvSpPr>
          <p:cNvPr id="379" name="Google Shape;379;p45"/>
          <p:cNvSpPr txBox="1"/>
          <p:nvPr/>
        </p:nvSpPr>
        <p:spPr>
          <a:xfrm>
            <a:off x="480650" y="4231100"/>
            <a:ext cx="1800300" cy="76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rgbClr val="FFFFFF"/>
                </a:solidFill>
                <a:latin typeface="Poppins"/>
                <a:ea typeface="Poppins"/>
                <a:cs typeface="Poppins"/>
                <a:sym typeface="Poppins"/>
              </a:rPr>
              <a:t>Phase2_AT40_brx-auv-010-sss-20250615T160811Z</a:t>
            </a:r>
            <a:endParaRPr i="1" sz="900">
              <a:solidFill>
                <a:srgbClr val="FFFFFF"/>
              </a:solidFill>
              <a:latin typeface="Poppins"/>
              <a:ea typeface="Poppins"/>
              <a:cs typeface="Poppins"/>
              <a:sym typeface="Poppins"/>
            </a:endParaRPr>
          </a:p>
        </p:txBody>
      </p:sp>
      <p:sp>
        <p:nvSpPr>
          <p:cNvPr id="380" name="Google Shape;380;p45"/>
          <p:cNvSpPr txBox="1"/>
          <p:nvPr/>
        </p:nvSpPr>
        <p:spPr>
          <a:xfrm>
            <a:off x="6301425" y="3180213"/>
            <a:ext cx="1872000" cy="76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rgbClr val="FFFFFF"/>
                </a:solidFill>
                <a:latin typeface="Poppins"/>
                <a:ea typeface="Poppins"/>
                <a:cs typeface="Poppins"/>
                <a:sym typeface="Poppins"/>
              </a:rPr>
              <a:t>Phase3_AN38_brx-auv-010-sss-20250828T163640Z</a:t>
            </a:r>
            <a:endParaRPr i="1" sz="900">
              <a:solidFill>
                <a:srgbClr val="FFFFFF"/>
              </a:solidFill>
              <a:latin typeface="Poppins"/>
              <a:ea typeface="Poppins"/>
              <a:cs typeface="Poppins"/>
              <a:sym typeface="Poppins"/>
            </a:endParaRPr>
          </a:p>
        </p:txBody>
      </p:sp>
      <p:sp>
        <p:nvSpPr>
          <p:cNvPr id="381" name="Google Shape;381;p45"/>
          <p:cNvSpPr txBox="1"/>
          <p:nvPr/>
        </p:nvSpPr>
        <p:spPr>
          <a:xfrm>
            <a:off x="2807825" y="4231100"/>
            <a:ext cx="1872000" cy="8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lt1"/>
                </a:solidFill>
                <a:latin typeface="Poppins"/>
                <a:ea typeface="Poppins"/>
                <a:cs typeface="Poppins"/>
                <a:sym typeface="Poppins"/>
              </a:rPr>
              <a:t>Phase2_AT40_brx-auv-010-sss-20250615T123159Z</a:t>
            </a:r>
            <a:endParaRPr i="1" sz="900">
              <a:solidFill>
                <a:schemeClr val="lt1"/>
              </a:solidFill>
              <a:latin typeface="Poppins"/>
              <a:ea typeface="Poppins"/>
              <a:cs typeface="Poppins"/>
              <a:sym typeface="Poppins"/>
            </a:endParaRPr>
          </a:p>
          <a:p>
            <a:pPr indent="0" lvl="0" marL="0" rtl="0" algn="l">
              <a:spcBef>
                <a:spcPts val="0"/>
              </a:spcBef>
              <a:spcAft>
                <a:spcPts val="0"/>
              </a:spcAft>
              <a:buNone/>
            </a:pPr>
            <a:r>
              <a:t/>
            </a:r>
            <a:endParaRPr sz="1700">
              <a:solidFill>
                <a:srgbClr val="FFFFFF"/>
              </a:solidFill>
              <a:latin typeface="Poppins"/>
              <a:ea typeface="Poppins"/>
              <a:cs typeface="Poppins"/>
              <a:sym typeface="Poppins"/>
            </a:endParaRPr>
          </a:p>
        </p:txBody>
      </p:sp>
      <p:pic>
        <p:nvPicPr>
          <p:cNvPr id="382" name="Google Shape;382;p45"/>
          <p:cNvPicPr preferRelativeResize="0"/>
          <p:nvPr/>
        </p:nvPicPr>
        <p:blipFill>
          <a:blip r:embed="rId3">
            <a:alphaModFix/>
          </a:blip>
          <a:stretch>
            <a:fillRect/>
          </a:stretch>
        </p:blipFill>
        <p:spPr>
          <a:xfrm>
            <a:off x="524050" y="3318347"/>
            <a:ext cx="1617700" cy="841725"/>
          </a:xfrm>
          <a:prstGeom prst="rect">
            <a:avLst/>
          </a:prstGeom>
          <a:noFill/>
          <a:ln>
            <a:noFill/>
          </a:ln>
        </p:spPr>
      </p:pic>
      <p:pic>
        <p:nvPicPr>
          <p:cNvPr id="383" name="Google Shape;383;p45"/>
          <p:cNvPicPr preferRelativeResize="0"/>
          <p:nvPr/>
        </p:nvPicPr>
        <p:blipFill>
          <a:blip r:embed="rId4">
            <a:alphaModFix/>
          </a:blip>
          <a:stretch>
            <a:fillRect/>
          </a:stretch>
        </p:blipFill>
        <p:spPr>
          <a:xfrm>
            <a:off x="524050" y="2093452"/>
            <a:ext cx="1617700" cy="898722"/>
          </a:xfrm>
          <a:prstGeom prst="rect">
            <a:avLst/>
          </a:prstGeom>
          <a:noFill/>
          <a:ln>
            <a:noFill/>
          </a:ln>
        </p:spPr>
      </p:pic>
      <p:pic>
        <p:nvPicPr>
          <p:cNvPr id="384" name="Google Shape;384;p45"/>
          <p:cNvPicPr preferRelativeResize="0"/>
          <p:nvPr/>
        </p:nvPicPr>
        <p:blipFill>
          <a:blip r:embed="rId5">
            <a:alphaModFix/>
          </a:blip>
          <a:stretch>
            <a:fillRect/>
          </a:stretch>
        </p:blipFill>
        <p:spPr>
          <a:xfrm>
            <a:off x="5917948" y="2049522"/>
            <a:ext cx="2524864" cy="997975"/>
          </a:xfrm>
          <a:prstGeom prst="rect">
            <a:avLst/>
          </a:prstGeom>
          <a:noFill/>
          <a:ln>
            <a:noFill/>
          </a:ln>
        </p:spPr>
      </p:pic>
      <p:pic>
        <p:nvPicPr>
          <p:cNvPr id="385" name="Google Shape;385;p45"/>
          <p:cNvPicPr preferRelativeResize="0"/>
          <p:nvPr/>
        </p:nvPicPr>
        <p:blipFill>
          <a:blip r:embed="rId6">
            <a:alphaModFix/>
          </a:blip>
          <a:stretch>
            <a:fillRect/>
          </a:stretch>
        </p:blipFill>
        <p:spPr>
          <a:xfrm>
            <a:off x="2915963" y="2098677"/>
            <a:ext cx="1091525" cy="785361"/>
          </a:xfrm>
          <a:prstGeom prst="rect">
            <a:avLst/>
          </a:prstGeom>
          <a:noFill/>
          <a:ln>
            <a:noFill/>
          </a:ln>
        </p:spPr>
      </p:pic>
      <p:pic>
        <p:nvPicPr>
          <p:cNvPr id="386" name="Google Shape;386;p45"/>
          <p:cNvPicPr preferRelativeResize="0"/>
          <p:nvPr/>
        </p:nvPicPr>
        <p:blipFill>
          <a:blip r:embed="rId7">
            <a:alphaModFix/>
          </a:blip>
          <a:stretch>
            <a:fillRect/>
          </a:stretch>
        </p:blipFill>
        <p:spPr>
          <a:xfrm>
            <a:off x="2915963" y="3209732"/>
            <a:ext cx="1091535" cy="997975"/>
          </a:xfrm>
          <a:prstGeom prst="rect">
            <a:avLst/>
          </a:prstGeom>
          <a:noFill/>
          <a:ln>
            <a:noFill/>
          </a:ln>
        </p:spPr>
      </p:pic>
      <p:sp>
        <p:nvSpPr>
          <p:cNvPr id="387" name="Google Shape;387;p45"/>
          <p:cNvSpPr txBox="1"/>
          <p:nvPr/>
        </p:nvSpPr>
        <p:spPr>
          <a:xfrm>
            <a:off x="480650" y="1593225"/>
            <a:ext cx="381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Poppins"/>
                <a:ea typeface="Poppins"/>
                <a:cs typeface="Poppins"/>
                <a:sym typeface="Poppins"/>
              </a:rPr>
              <a:t>False Negatives (Missing Targets)</a:t>
            </a:r>
            <a:endParaRPr/>
          </a:p>
        </p:txBody>
      </p:sp>
      <p:sp>
        <p:nvSpPr>
          <p:cNvPr id="388" name="Google Shape;388;p45"/>
          <p:cNvSpPr txBox="1"/>
          <p:nvPr/>
        </p:nvSpPr>
        <p:spPr>
          <a:xfrm>
            <a:off x="5270413" y="1632538"/>
            <a:ext cx="381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Poppins"/>
                <a:ea typeface="Poppins"/>
                <a:cs typeface="Poppins"/>
                <a:sym typeface="Poppins"/>
              </a:rPr>
              <a:t>False Positives (Erroneous detections)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20723"/>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